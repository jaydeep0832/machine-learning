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459" r:id="rId2"/>
    <p:sldId id="256" r:id="rId3"/>
    <p:sldId id="430" r:id="rId4"/>
    <p:sldId id="577" r:id="rId5"/>
    <p:sldId id="578" r:id="rId6"/>
    <p:sldId id="579" r:id="rId7"/>
    <p:sldId id="580" r:id="rId8"/>
    <p:sldId id="496" r:id="rId9"/>
    <p:sldId id="497" r:id="rId10"/>
    <p:sldId id="528" r:id="rId11"/>
    <p:sldId id="529" r:id="rId12"/>
    <p:sldId id="582" r:id="rId13"/>
    <p:sldId id="583" r:id="rId14"/>
    <p:sldId id="584" r:id="rId15"/>
    <p:sldId id="614" r:id="rId16"/>
    <p:sldId id="585" r:id="rId17"/>
    <p:sldId id="45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7" autoAdjust="0"/>
    <p:restoredTop sz="90621" autoAdjust="0"/>
  </p:normalViewPr>
  <p:slideViewPr>
    <p:cSldViewPr>
      <p:cViewPr varScale="1">
        <p:scale>
          <a:sx n="83" d="100"/>
          <a:sy n="83" d="100"/>
        </p:scale>
        <p:origin x="129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9673B-F029-4EB6-981F-6118A75E367B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F8E48-716F-463C-9A2D-BA57804D2B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819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819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62F1F-95C1-45CA-84F0-B138AAEBAF81}" type="datetime1">
              <a:rPr lang="en-IN" smtClean="0"/>
              <a:t>30-12-2025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30-12-2025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60D6-FD85-46FC-B621-90CF24064286}" type="datetime1">
              <a:rPr lang="en-IN" smtClean="0"/>
              <a:t>30-12-2025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685E-EC22-4A30-9C5A-5527B3C4452F}" type="datetime1">
              <a:rPr lang="en-IN" smtClean="0"/>
              <a:t>30-12-2025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A1E3-69D8-4A03-B392-4B3DA43B89F5}" type="datetime1">
              <a:rPr lang="en-IN" smtClean="0"/>
              <a:t>30-12-2025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FA67-6AED-47ED-98CB-817068A34CDD}" type="datetime1">
              <a:rPr lang="en-IN" smtClean="0"/>
              <a:t>30-12-2025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EBA68-83D6-4A7C-9443-03C3BAB145F5}" type="datetime1">
              <a:rPr lang="en-IN" smtClean="0"/>
              <a:t>30-12-2025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F257B-BAD3-4E20-B0B4-3EA4E039C483}" type="datetime1">
              <a:rPr lang="en-IN" smtClean="0"/>
              <a:t>30-12-2025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1437-D38A-47BA-AECD-4B3F5E59E416}" type="datetime1">
              <a:rPr lang="en-IN" smtClean="0"/>
              <a:t>30-12-2025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ACA0-1FF6-43FE-9E2F-4E13179A1744}" type="datetime1">
              <a:rPr lang="en-IN" smtClean="0"/>
              <a:t>30-12-2025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CC08-E355-4133-96C3-E543032B013A}" type="datetime1">
              <a:rPr lang="en-IN" smtClean="0"/>
              <a:t>30-12-2025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5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fld id="{9034A2FE-D172-435F-AA4B-518E3133ACED}" type="datetime1">
              <a:rPr lang="en-IN" smtClean="0"/>
              <a:t>30-12-2025</a:t>
            </a:fld>
            <a:endParaRPr lang="en-US"/>
          </a:p>
        </p:txBody>
      </p:sp>
      <p:sp>
        <p:nvSpPr>
          <p:cNvPr id="29185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29185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fld id="{34829615-EA85-47CB-9745-0124BEE5BE2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1859" name="Rectangle 19"/>
          <p:cNvSpPr>
            <a:spLocks noChangeArrowheads="1"/>
          </p:cNvSpPr>
          <p:nvPr userDrawn="1"/>
        </p:nvSpPr>
        <p:spPr bwMode="gray">
          <a:xfrm>
            <a:off x="114300" y="2830513"/>
            <a:ext cx="8890000" cy="4286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  <p:sp>
        <p:nvSpPr>
          <p:cNvPr id="291860" name="Rectangle 20"/>
          <p:cNvSpPr>
            <a:spLocks noChangeArrowheads="1"/>
          </p:cNvSpPr>
          <p:nvPr userDrawn="1"/>
        </p:nvSpPr>
        <p:spPr bwMode="gray">
          <a:xfrm>
            <a:off x="122238" y="4167188"/>
            <a:ext cx="8890000" cy="4286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ADB42-1EA6-48BD-91C6-255795457A8A}" type="datetime1">
              <a:rPr lang="en-IN" smtClean="0"/>
              <a:t>30-12-2025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73E515-2BDA-F457-4EB8-33C10AB78D4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034A2FE-D172-435F-AA4B-518E3133ACED}" type="datetime1">
              <a:rPr lang="en-IN" smtClean="0"/>
              <a:t>30-12-2025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40DBC8-EC57-0EDA-1475-B56814C30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A7063-DD38-FDD5-F958-1861A85B0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829615-EA85-47CB-9745-0124BEE5BE2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6F16C-70B1-3A8D-FF70-1A03D6363FC0}"/>
              </a:ext>
            </a:extLst>
          </p:cNvPr>
          <p:cNvSpPr txBox="1"/>
          <p:nvPr/>
        </p:nvSpPr>
        <p:spPr>
          <a:xfrm>
            <a:off x="152400" y="3131403"/>
            <a:ext cx="899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Note:</a:t>
            </a:r>
            <a:r>
              <a:rPr lang="en-IN" sz="2400" dirty="0"/>
              <a:t> Theory Internal Marks based on Assignment Work (25%)</a:t>
            </a:r>
          </a:p>
          <a:p>
            <a:r>
              <a:rPr lang="en-IN" sz="2400" dirty="0"/>
              <a:t>           Practical Internal Marks based on Experimental Lab Work (50%)</a:t>
            </a:r>
          </a:p>
        </p:txBody>
      </p:sp>
    </p:spTree>
    <p:extLst>
      <p:ext uri="{BB962C8B-B14F-4D97-AF65-F5344CB8AC3E}">
        <p14:creationId xmlns:p14="http://schemas.microsoft.com/office/powerpoint/2010/main" val="1891479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1166019" y="2895600"/>
            <a:ext cx="6921500" cy="139658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>
            <a:normAutofit fontScale="90000"/>
          </a:bodyPr>
          <a:lstStyle/>
          <a:p>
            <a:r>
              <a:rPr lang="en-US" sz="3600" dirty="0"/>
              <a:t>Assignment 2: </a:t>
            </a:r>
            <a:br>
              <a:rPr lang="en-US" sz="3600" dirty="0"/>
            </a:br>
            <a:r>
              <a:rPr lang="en-US" sz="3600" dirty="0"/>
              <a:t>Mathematical Preliminaries - II: </a:t>
            </a:r>
            <a:br>
              <a:rPr lang="en-US" sz="3600" dirty="0"/>
            </a:br>
            <a:r>
              <a:rPr lang="en-US" sz="3600" dirty="0"/>
              <a:t>Mathematical Optimization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4ABEA-BDC3-2120-8281-B22F09EFA2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E8810AA-E5FB-460E-942C-C27A9A3AE343}" type="datetime1">
              <a:rPr lang="en-IN" smtClean="0"/>
              <a:t>30-12-2025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8607D-C84B-CCA0-EA1A-4A2C48DEE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66938" y="4495800"/>
            <a:ext cx="4919662" cy="112178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Dr. Jigar Shah</a:t>
            </a:r>
          </a:p>
          <a:p>
            <a:r>
              <a:rPr lang="en-US" dirty="0">
                <a:solidFill>
                  <a:srgbClr val="FF0000"/>
                </a:solidFill>
              </a:rPr>
              <a:t>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EC276-6BC7-413A-A5B4-111DE2230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829615-EA85-47CB-9745-0124BEE5BE2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A28BB-0490-8F52-656F-F58CA031F6CF}"/>
              </a:ext>
            </a:extLst>
          </p:cNvPr>
          <p:cNvSpPr txBox="1"/>
          <p:nvPr/>
        </p:nvSpPr>
        <p:spPr>
          <a:xfrm>
            <a:off x="381000" y="920524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</a:rPr>
              <a:t>MACHINE LEARNING LAB </a:t>
            </a:r>
            <a:r>
              <a:rPr lang="en-IN" sz="3200">
                <a:solidFill>
                  <a:srgbClr val="FF0000"/>
                </a:solidFill>
              </a:rPr>
              <a:t>(20IC313P)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85A48-2DDE-6ACA-3346-DAC0DB8CE44D}"/>
              </a:ext>
            </a:extLst>
          </p:cNvPr>
          <p:cNvSpPr txBox="1"/>
          <p:nvPr/>
        </p:nvSpPr>
        <p:spPr>
          <a:xfrm>
            <a:off x="2965276" y="1997742"/>
            <a:ext cx="3918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ICT - Semester 6 – Dept. Elective Course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1689" y="990600"/>
            <a:ext cx="8610600" cy="51816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800" b="1" u="sng" dirty="0">
                <a:solidFill>
                  <a:srgbClr val="FF0000"/>
                </a:solidFill>
                <a:latin typeface="CMR10"/>
              </a:rPr>
              <a:t>Chapter 2; Topic 2.4 of Book:</a:t>
            </a:r>
          </a:p>
          <a:p>
            <a:pPr marL="0" indent="0" algn="just">
              <a:buNone/>
            </a:pPr>
            <a:r>
              <a:rPr lang="en-US" sz="2800" dirty="0"/>
              <a:t>Machine Learning Fundamentals; Hui Jiang; 2020; Cambridge University Press</a:t>
            </a:r>
            <a:r>
              <a:rPr lang="en-US" sz="2800" dirty="0">
                <a:latin typeface="CMR10"/>
              </a:rPr>
              <a:t>.</a:t>
            </a:r>
          </a:p>
          <a:p>
            <a:pPr marL="0" indent="0" algn="just">
              <a:buNone/>
            </a:pPr>
            <a:endParaRPr lang="en-US" sz="2800" dirty="0">
              <a:latin typeface="CMR10"/>
            </a:endParaRPr>
          </a:p>
          <a:p>
            <a:pPr marL="0" indent="0" algn="just">
              <a:buNone/>
            </a:pPr>
            <a:r>
              <a:rPr lang="en-US" sz="2800" b="1" u="sng" dirty="0">
                <a:solidFill>
                  <a:srgbClr val="FF0000"/>
                </a:solidFill>
                <a:latin typeface="CMR10"/>
              </a:rPr>
              <a:t>Topics to Learn:</a:t>
            </a:r>
          </a:p>
          <a:p>
            <a:pPr algn="just"/>
            <a:r>
              <a:rPr lang="en-US" sz="2800" dirty="0">
                <a:solidFill>
                  <a:srgbClr val="002060"/>
                </a:solidFill>
                <a:latin typeface="CMR10"/>
              </a:rPr>
              <a:t>General Optimization Problem</a:t>
            </a:r>
          </a:p>
          <a:p>
            <a:pPr algn="just"/>
            <a:r>
              <a:rPr lang="en-US" sz="2800" dirty="0">
                <a:solidFill>
                  <a:srgbClr val="002060"/>
                </a:solidFill>
                <a:latin typeface="CMR10"/>
              </a:rPr>
              <a:t>Unconstrained Optimization Problem and Solution</a:t>
            </a:r>
          </a:p>
          <a:p>
            <a:pPr algn="just"/>
            <a:r>
              <a:rPr lang="en-US" sz="2800" dirty="0">
                <a:solidFill>
                  <a:srgbClr val="002060"/>
                </a:solidFill>
                <a:latin typeface="CMR10"/>
              </a:rPr>
              <a:t>Constrained Optimization with Equality Conditions and Solution: Lagrange’s multiplier method</a:t>
            </a:r>
          </a:p>
          <a:p>
            <a:pPr algn="just"/>
            <a:r>
              <a:rPr lang="en-US" sz="2800" dirty="0">
                <a:solidFill>
                  <a:srgbClr val="002060"/>
                </a:solidFill>
                <a:latin typeface="CMR10"/>
              </a:rPr>
              <a:t>Constrained Optimization with Inequality Conditions and Solution: KKT conditions</a:t>
            </a:r>
          </a:p>
          <a:p>
            <a:pPr algn="just"/>
            <a:r>
              <a:rPr lang="en-US" sz="2800" dirty="0">
                <a:solidFill>
                  <a:srgbClr val="002060"/>
                </a:solidFill>
                <a:latin typeface="CMR10"/>
              </a:rPr>
              <a:t>Numerical Optimization Algorithms: GD, SGD, Mini-Batch SGD</a:t>
            </a:r>
          </a:p>
          <a:p>
            <a:pPr marL="0" indent="0" algn="just">
              <a:buNone/>
            </a:pPr>
            <a:endParaRPr lang="en-US" sz="2800" b="1" u="sng" dirty="0">
              <a:solidFill>
                <a:srgbClr val="FF0000"/>
              </a:solidFill>
              <a:latin typeface="CMR1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779A94-947F-FE8F-8AE7-7F2BCD7C0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66AAF-33F1-4B95-9037-9B10B63224F3}" type="datetime1">
              <a:rPr lang="en-IN" smtClean="0"/>
              <a:t>30-12-2025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0E4FEE-4F01-BE33-9AB3-D821D4B3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3639C-F866-DD6F-6216-4E2E0A353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FED0242-104F-7733-AA5A-7F24BCDDB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12" y="76200"/>
            <a:ext cx="8229600" cy="73025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Reference: </a:t>
            </a:r>
          </a:p>
        </p:txBody>
      </p:sp>
    </p:spTree>
    <p:extLst>
      <p:ext uri="{BB962C8B-B14F-4D97-AF65-F5344CB8AC3E}">
        <p14:creationId xmlns:p14="http://schemas.microsoft.com/office/powerpoint/2010/main" val="4132597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1689" y="990600"/>
            <a:ext cx="8610600" cy="51816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800" b="1" u="sng" dirty="0">
                <a:solidFill>
                  <a:srgbClr val="FF0000"/>
                </a:solidFill>
                <a:latin typeface="CMR10"/>
              </a:rPr>
              <a:t>Chapter 2; Topic 2.4 of Book:</a:t>
            </a:r>
          </a:p>
          <a:p>
            <a:pPr marL="0" indent="0" algn="just">
              <a:buNone/>
            </a:pPr>
            <a:r>
              <a:rPr lang="en-US" sz="2800" dirty="0"/>
              <a:t>Machine Learning Fundamentals; Hui Jiang; 2020; Cambridge University Press</a:t>
            </a:r>
            <a:r>
              <a:rPr lang="en-US" sz="2800" dirty="0">
                <a:latin typeface="CMR10"/>
              </a:rPr>
              <a:t>.</a:t>
            </a:r>
          </a:p>
          <a:p>
            <a:pPr marL="0" indent="0" algn="just">
              <a:buNone/>
            </a:pPr>
            <a:endParaRPr lang="en-US" sz="2800" dirty="0">
              <a:latin typeface="CMR10"/>
            </a:endParaRPr>
          </a:p>
          <a:p>
            <a:pPr marL="0" indent="0" algn="just">
              <a:buNone/>
            </a:pPr>
            <a:r>
              <a:rPr lang="en-US" sz="2800" b="1" u="sng" dirty="0">
                <a:solidFill>
                  <a:srgbClr val="FF0000"/>
                </a:solidFill>
                <a:latin typeface="CMR10"/>
              </a:rPr>
              <a:t>Topics to Learn:</a:t>
            </a:r>
          </a:p>
          <a:p>
            <a:pPr algn="just"/>
            <a:r>
              <a:rPr lang="en-US" sz="2800" dirty="0">
                <a:solidFill>
                  <a:srgbClr val="002060"/>
                </a:solidFill>
                <a:latin typeface="CMR10"/>
              </a:rPr>
              <a:t>General Optimization Problem</a:t>
            </a:r>
          </a:p>
          <a:p>
            <a:pPr algn="just"/>
            <a:r>
              <a:rPr lang="en-US" sz="2800" dirty="0">
                <a:solidFill>
                  <a:srgbClr val="002060"/>
                </a:solidFill>
                <a:latin typeface="CMR10"/>
              </a:rPr>
              <a:t>Unconstrained Optimization Problem and Solution</a:t>
            </a:r>
          </a:p>
          <a:p>
            <a:pPr algn="just"/>
            <a:r>
              <a:rPr lang="en-US" sz="2800" dirty="0">
                <a:solidFill>
                  <a:srgbClr val="002060"/>
                </a:solidFill>
                <a:latin typeface="CMR10"/>
              </a:rPr>
              <a:t>Numerical Optimization Algorithms: Gradient Descent (GD) Algo.</a:t>
            </a:r>
          </a:p>
          <a:p>
            <a:pPr algn="just"/>
            <a:r>
              <a:rPr lang="en-US" sz="2800" dirty="0">
                <a:solidFill>
                  <a:srgbClr val="002060"/>
                </a:solidFill>
                <a:latin typeface="CMR10"/>
              </a:rPr>
              <a:t>Constrained Optimization with Equality Conditions and Solution: Lagrange’s multiplier method</a:t>
            </a:r>
          </a:p>
          <a:p>
            <a:pPr algn="just"/>
            <a:r>
              <a:rPr lang="en-US" sz="2800" dirty="0">
                <a:solidFill>
                  <a:srgbClr val="002060"/>
                </a:solidFill>
                <a:latin typeface="CMR10"/>
              </a:rPr>
              <a:t>Constrained Optimization with Inequality Conditions and Solution: KKT conditions</a:t>
            </a:r>
          </a:p>
          <a:p>
            <a:pPr marL="0" indent="0" algn="just">
              <a:buNone/>
            </a:pPr>
            <a:endParaRPr lang="en-US" sz="2800" b="1" u="sng" dirty="0">
              <a:solidFill>
                <a:srgbClr val="FF0000"/>
              </a:solidFill>
              <a:latin typeface="CMR1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779A94-947F-FE8F-8AE7-7F2BCD7C0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066AAF-33F1-4B95-9037-9B10B63224F3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30-12-2025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0E4FEE-4F01-BE33-9AB3-D821D4B3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3639C-F866-DD6F-6216-4E2E0A353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FED0242-104F-7733-AA5A-7F24BCDDB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12" y="76200"/>
            <a:ext cx="8229600" cy="73025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Reference: </a:t>
            </a:r>
          </a:p>
        </p:txBody>
      </p:sp>
    </p:spTree>
    <p:extLst>
      <p:ext uri="{BB962C8B-B14F-4D97-AF65-F5344CB8AC3E}">
        <p14:creationId xmlns:p14="http://schemas.microsoft.com/office/powerpoint/2010/main" val="33233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C7278-52A0-6A28-E117-E127A645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E377B-01DD-0F5C-B2E6-1F366ED00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pPr algn="just"/>
            <a:r>
              <a:rPr lang="en-IN" sz="1800" b="0" i="0" u="none" strike="noStrike" baseline="0" dirty="0">
                <a:latin typeface="URWPalladioL-Roma"/>
              </a:rPr>
              <a:t>Find </a:t>
            </a:r>
            <a:r>
              <a:rPr lang="en-US" sz="1800" b="0" i="0" u="none" strike="noStrike" baseline="0" dirty="0">
                <a:latin typeface="URWPalladioL-Roma"/>
              </a:rPr>
              <a:t>the best-fit candidate among a family of feasible choices in that it satisfies </a:t>
            </a:r>
            <a:r>
              <a:rPr lang="en-IN" sz="1800" b="0" i="0" u="none" strike="noStrike" baseline="0" dirty="0">
                <a:latin typeface="URWPalladioL-Roma"/>
              </a:rPr>
              <a:t>certain design criteria</a:t>
            </a:r>
          </a:p>
          <a:p>
            <a:pPr algn="just"/>
            <a:r>
              <a:rPr lang="en-IN" sz="1800" b="0" i="0" u="none" strike="noStrike" baseline="0" dirty="0">
                <a:latin typeface="URWPalladioL-Roma"/>
              </a:rPr>
              <a:t>Start with </a:t>
            </a:r>
            <a:r>
              <a:rPr lang="en-US" sz="1800" b="0" i="0" u="none" strike="noStrike" baseline="0" dirty="0">
                <a:latin typeface="URWPalladioL-Roma"/>
              </a:rPr>
              <a:t>a criterion and formulate an objective function that can quantitatively measure the underlying criterion as a function of all available choices</a:t>
            </a:r>
          </a:p>
          <a:p>
            <a:pPr algn="just"/>
            <a:r>
              <a:rPr lang="en-IN" sz="1800" b="0" i="0" u="none" strike="noStrike" baseline="0" dirty="0">
                <a:latin typeface="URWPalladioL-Roma"/>
              </a:rPr>
              <a:t>The </a:t>
            </a:r>
            <a:r>
              <a:rPr lang="en-US" sz="1800" b="0" i="0" u="none" strike="noStrike" baseline="0" dirty="0">
                <a:latin typeface="URWPalladioL-Roma"/>
              </a:rPr>
              <a:t>optimization problem is solved by just finding the variables that maximize or minimize the objective function among all feasible choices.</a:t>
            </a:r>
          </a:p>
          <a:p>
            <a:pPr algn="just"/>
            <a:r>
              <a:rPr lang="en-IN" sz="1800" b="0" i="0" u="none" strike="noStrike" baseline="0" dirty="0">
                <a:latin typeface="URWPalladioL-Roma"/>
              </a:rPr>
              <a:t>The feasibility </a:t>
            </a:r>
            <a:r>
              <a:rPr lang="en-US" sz="1800" b="0" i="0" u="none" strike="noStrike" baseline="0" dirty="0">
                <a:latin typeface="URWPalladioL-Roma"/>
              </a:rPr>
              <a:t>of a choice is usually specified by some constraints in the optimization </a:t>
            </a:r>
            <a:r>
              <a:rPr lang="en-IN" sz="1800" b="0" i="0" u="none" strike="noStrike" baseline="0" dirty="0">
                <a:latin typeface="URWPalladioL-Roma"/>
              </a:rPr>
              <a:t>problem.</a:t>
            </a:r>
          </a:p>
          <a:p>
            <a:pPr algn="just"/>
            <a:r>
              <a:rPr lang="en-IN" sz="1800" b="1" i="0" u="none" strike="noStrike" baseline="0" dirty="0">
                <a:latin typeface="URWPalladioL-Bold"/>
              </a:rPr>
              <a:t>General Formulation</a:t>
            </a:r>
            <a:r>
              <a:rPr lang="en-IN" sz="1800" dirty="0">
                <a:latin typeface="URWPalladioL-Roma"/>
              </a:rPr>
              <a:t>: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427A8-4C82-57D8-AC9E-E4514BEA6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30-12-2025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C6094-6303-4399-13DA-E78E47993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54681-B108-D9DD-356A-5319F8449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CC6D5F-FB29-D6C5-34B0-99C156A90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149180"/>
            <a:ext cx="4938188" cy="19585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A5EDF5-4047-66DC-CBFB-E7A9E4011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4335631"/>
            <a:ext cx="3114572" cy="190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867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6D3C2-2FAE-90B9-0754-9628E21D5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64701-C8E6-57E7-81F1-E79525E05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32004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1800" b="0" i="0" u="none" strike="noStrike" baseline="0" dirty="0">
                <a:latin typeface="URWPalladioL-Roma"/>
              </a:rPr>
              <a:t>Mainly focused on a more general group of optimization problems called </a:t>
            </a:r>
            <a:r>
              <a:rPr lang="en-IN" sz="1800" b="0" i="0" u="none" strike="noStrike" baseline="0" dirty="0">
                <a:latin typeface="URWPalladioL-Ital"/>
              </a:rPr>
              <a:t>Convex Optimization</a:t>
            </a:r>
          </a:p>
          <a:p>
            <a:pPr algn="just"/>
            <a:r>
              <a:rPr lang="en-US" sz="1800" b="0" i="0" u="none" strike="noStrike" baseline="0" dirty="0">
                <a:latin typeface="URWPalladioL-Roma"/>
              </a:rPr>
              <a:t>The optimization is a convex optimization problem if the objective function </a:t>
            </a:r>
            <a:r>
              <a:rPr lang="en-US" sz="1800" b="0" i="0" u="none" strike="noStrike" baseline="0" dirty="0">
                <a:latin typeface="NimbusRomNo9L-ReguItal"/>
              </a:rPr>
              <a:t>f</a:t>
            </a:r>
            <a:r>
              <a:rPr lang="en-US" sz="1800" b="0" i="0" u="none" strike="noStrike" baseline="0" dirty="0">
                <a:latin typeface="txsys"/>
              </a:rPr>
              <a:t>(</a:t>
            </a:r>
            <a:r>
              <a:rPr lang="en-US" sz="1800" b="1" i="0" u="none" strike="noStrike" baseline="0" dirty="0">
                <a:latin typeface="URWPalladioL-Bold"/>
              </a:rPr>
              <a:t>x</a:t>
            </a:r>
            <a:r>
              <a:rPr lang="en-US" sz="1800" b="0" i="0" u="none" strike="noStrike" baseline="0" dirty="0">
                <a:latin typeface="txsys"/>
              </a:rPr>
              <a:t>) </a:t>
            </a:r>
            <a:r>
              <a:rPr lang="en-US" sz="1800" b="0" i="0" u="none" strike="noStrike" baseline="0" dirty="0">
                <a:latin typeface="URWPalladioL-Roma"/>
              </a:rPr>
              <a:t>is a convex function and the feasible set </a:t>
            </a:r>
            <a:r>
              <a:rPr lang="el-GR" sz="1800" b="0" i="0" u="none" strike="noStrike" baseline="0" dirty="0">
                <a:latin typeface="URWPalladioL-Roma"/>
              </a:rPr>
              <a:t>Ω</a:t>
            </a:r>
            <a:r>
              <a:rPr lang="en-IN" sz="1800" b="0" i="0" u="none" strike="noStrike" baseline="0" dirty="0">
                <a:latin typeface="URWPalladioL-Roma"/>
              </a:rPr>
              <a:t> </a:t>
            </a:r>
            <a:r>
              <a:rPr lang="en-US" sz="1800" b="0" i="0" u="none" strike="noStrike" baseline="0" dirty="0">
                <a:latin typeface="URWPalladioL-Roma"/>
              </a:rPr>
              <a:t>defined by all constraints is a convex set</a:t>
            </a:r>
            <a:endParaRPr lang="en-IN" sz="1800" dirty="0"/>
          </a:p>
          <a:p>
            <a:pPr algn="just"/>
            <a:r>
              <a:rPr lang="en-US" sz="1800" b="0" i="0" u="none" strike="noStrike" baseline="0" dirty="0">
                <a:latin typeface="URWPalladioL-Roma"/>
              </a:rPr>
              <a:t>A set is said to be convex if for any two points in the set, the line segment joining them lies entirely within the set.</a:t>
            </a:r>
          </a:p>
          <a:p>
            <a:pPr algn="just"/>
            <a:r>
              <a:rPr lang="en-US" sz="1800" b="0" i="0" u="none" strike="noStrike" baseline="0" dirty="0">
                <a:latin typeface="URWPalladioL-Roma"/>
              </a:rPr>
              <a:t>A function is considered a convex function when the straight line joining any two different points on its graph lies entirely above the function's curve.</a:t>
            </a:r>
          </a:p>
          <a:p>
            <a:pPr algn="just"/>
            <a:r>
              <a:rPr lang="en-US" sz="1800" b="0" i="0" u="none" strike="noStrike" baseline="0" dirty="0">
                <a:latin typeface="URWPalladioL-Roma"/>
              </a:rPr>
              <a:t>All convex </a:t>
            </a:r>
            <a:r>
              <a:rPr lang="en-US" sz="1800" dirty="0">
                <a:latin typeface="URWPalladioL-Roma"/>
              </a:rPr>
              <a:t>differentiable functions</a:t>
            </a:r>
            <a:r>
              <a:rPr lang="en-US" sz="1800" b="0" i="0" u="none" strike="noStrike" baseline="0" dirty="0">
                <a:latin typeface="URWPalladioL-Roma"/>
              </a:rPr>
              <a:t> have the nice property that a local </a:t>
            </a:r>
            <a:r>
              <a:rPr lang="en-US" sz="1800" b="0" i="0" u="none" strike="noStrike" baseline="0" dirty="0" err="1">
                <a:latin typeface="URWPalladioL-Roma"/>
              </a:rPr>
              <a:t>mininum</a:t>
            </a:r>
            <a:r>
              <a:rPr lang="en-US" sz="1800" b="0" i="0" u="none" strike="noStrike" baseline="0" dirty="0">
                <a:latin typeface="URWPalladioL-Roma"/>
              </a:rPr>
              <a:t> solution is guaranteed to be globally </a:t>
            </a:r>
            <a:r>
              <a:rPr lang="en-US" sz="1800" b="0" i="0" u="none" strike="noStrike" baseline="0" dirty="0" err="1">
                <a:latin typeface="URWPalladioL-Roma"/>
              </a:rPr>
              <a:t>mininum</a:t>
            </a:r>
            <a:r>
              <a:rPr lang="en-US" sz="1800" b="0" i="0" u="none" strike="noStrike" baseline="0" dirty="0">
                <a:latin typeface="URWPalladioL-Roma"/>
              </a:rPr>
              <a:t> </a:t>
            </a:r>
          </a:p>
          <a:p>
            <a:pPr algn="just"/>
            <a:r>
              <a:rPr lang="en-IN" sz="1800" dirty="0"/>
              <a:t>For concave differentiable function it guarantees a global maximum.</a:t>
            </a:r>
          </a:p>
          <a:p>
            <a:pPr algn="just"/>
            <a:r>
              <a:rPr lang="en-IN" sz="1800" b="0" i="0" u="none" strike="noStrike" baseline="0" dirty="0">
                <a:latin typeface="URWPalladioL-Roma"/>
              </a:rPr>
              <a:t>The functions which are neither convex nor concave have different local and global optimum points</a:t>
            </a:r>
            <a:endParaRPr lang="en-US" sz="1800" b="0" i="0" u="none" strike="noStrike" baseline="0" dirty="0">
              <a:latin typeface="URWPalladioL-Roma"/>
            </a:endParaRPr>
          </a:p>
          <a:p>
            <a:pPr algn="just"/>
            <a:endParaRPr lang="en-US" sz="1800" b="0" i="0" u="none" strike="noStrike" baseline="0" dirty="0">
              <a:latin typeface="URWPalladioL-Roma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CDDDD-5F74-90A1-C0EB-2A80107C5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30-12-2025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50CC0-649A-FD43-AA38-E9100DE24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1BB2C-9F8A-DAA5-EA23-6918670C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993556-6F73-C3FD-B6A3-8DFE7CB37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9" y="4428722"/>
            <a:ext cx="3065207" cy="226775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1E3A2B6-9F08-B61E-A5FC-C0DD3A886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4624262"/>
            <a:ext cx="2212230" cy="207221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F704584-168A-C7EC-8D1A-D2F7713B1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9426" y="4428722"/>
            <a:ext cx="3736345" cy="20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359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E46A5-AE8E-5976-204F-2E8DDF14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9021113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Optimality Conditions for Unconstrained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7FC97E-DF32-6405-FFA4-8AB431E980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4587" y="4759130"/>
                <a:ext cx="8706525" cy="1597219"/>
              </a:xfrm>
            </p:spPr>
            <p:txBody>
              <a:bodyPr>
                <a:normAutofit fontScale="25000" lnSpcReduction="20000"/>
              </a:bodyPr>
              <a:lstStyle/>
              <a:p>
                <a:pPr algn="just"/>
                <a:r>
                  <a:rPr lang="en-IN" sz="8000" dirty="0"/>
                  <a:t>An interesting property of a convex and differentiable function </a:t>
                </a:r>
                <a:r>
                  <a:rPr lang="en-IN" sz="8000" i="1" dirty="0"/>
                  <a:t>f(</a:t>
                </a:r>
                <a:r>
                  <a:rPr lang="en-IN" sz="8000" b="1" i="1" dirty="0"/>
                  <a:t>x</a:t>
                </a:r>
                <a:r>
                  <a:rPr lang="en-IN" sz="8000" i="1" dirty="0"/>
                  <a:t>)</a:t>
                </a:r>
                <a:r>
                  <a:rPr lang="en-IN" sz="8000" dirty="0"/>
                  <a:t> is that the vanishing of the gradient (first order derivatives) </a:t>
                </a:r>
                <a14:m>
                  <m:oMath xmlns:m="http://schemas.openxmlformats.org/officeDocument/2006/math">
                    <m:r>
                      <a:rPr lang="en-IN" sz="8000" b="1" i="1" dirty="0">
                        <a:latin typeface="Cambria Math"/>
                        <a:ea typeface="Cambria Math"/>
                      </a:rPr>
                      <m:t>𝜵</m:t>
                    </m:r>
                  </m:oMath>
                </a14:m>
                <a:r>
                  <a:rPr lang="en-IN" sz="8000" i="1" dirty="0"/>
                  <a:t>f</a:t>
                </a:r>
                <a:r>
                  <a:rPr lang="en-IN" sz="8000" dirty="0"/>
                  <a:t>(</a:t>
                </a:r>
                <a:r>
                  <a:rPr lang="en-IN" sz="8000" b="1" dirty="0"/>
                  <a:t>x</a:t>
                </a:r>
                <a:r>
                  <a:rPr lang="en-IN" sz="8000" b="1" baseline="30000" dirty="0"/>
                  <a:t>*</a:t>
                </a:r>
                <a:r>
                  <a:rPr lang="en-IN" sz="8000" dirty="0"/>
                  <a:t>) = 0 guarantees that the stationary point </a:t>
                </a:r>
                <a:r>
                  <a:rPr lang="en-IN" sz="8000" b="1" dirty="0"/>
                  <a:t>x</a:t>
                </a:r>
                <a:r>
                  <a:rPr lang="en-IN" sz="8000" b="1" baseline="30000" dirty="0"/>
                  <a:t>*</a:t>
                </a:r>
                <a:r>
                  <a:rPr lang="en-IN" sz="8000" dirty="0"/>
                  <a:t> is a global minimum. No need to go for second order derivatives. </a:t>
                </a:r>
              </a:p>
              <a:p>
                <a:pPr algn="just"/>
                <a:r>
                  <a:rPr lang="en-IN" sz="8000" dirty="0"/>
                  <a:t>Similar comments can be made for concave differentiable function regarding its global maxima.</a:t>
                </a:r>
              </a:p>
              <a:p>
                <a:r>
                  <a:rPr lang="en-IN" sz="3200" dirty="0"/>
                  <a:t> 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7FC97E-DF32-6405-FFA4-8AB431E980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587" y="4759130"/>
                <a:ext cx="8706525" cy="1597219"/>
              </a:xfrm>
              <a:blipFill>
                <a:blip r:embed="rId2"/>
                <a:stretch>
                  <a:fillRect l="-630" t="-5725" r="-700" b="-95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42FC7-1FAF-D784-F26E-B46950E7B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30-12-2025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4BFA4-ED5F-106F-4F52-06119D78F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50E4A-AC38-C1FC-63FE-2AE32B6A7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64FE28-B0BD-EBA8-BFBB-7BAC5A0FE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1279525"/>
            <a:ext cx="2449165" cy="8677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6A5257-17B4-9BEF-41AD-AAAADC3360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9608"/>
          <a:stretch/>
        </p:blipFill>
        <p:spPr>
          <a:xfrm>
            <a:off x="6358458" y="806782"/>
            <a:ext cx="1295400" cy="199167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FF3BE73-4EA9-EDBD-E8B7-CBBF0F5703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5973" y="2920194"/>
            <a:ext cx="2449165" cy="133309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FD674AD-0B06-7725-5F6D-82F4C6B8D2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8233" y="2264796"/>
            <a:ext cx="3107525" cy="6667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C7D1F3-AD31-2C8E-6622-AA78CC72E0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837" y="4314070"/>
            <a:ext cx="8602275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42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52400"/>
            <a:ext cx="91439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Numerical Optimization Methods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8480AC-862B-E8B0-A47D-87063A864B5A}"/>
              </a:ext>
            </a:extLst>
          </p:cNvPr>
          <p:cNvSpPr txBox="1"/>
          <p:nvPr/>
        </p:nvSpPr>
        <p:spPr>
          <a:xfrm>
            <a:off x="609599" y="2743200"/>
            <a:ext cx="7924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RWPalladioL-Roma"/>
                <a:ea typeface="+mn-ea"/>
                <a:cs typeface="+mn-cs"/>
              </a:rPr>
              <a:t>For many optimization problems arising from real-world applications, the analytical methods based on the optimality conditions do not always lead to a useful closed-form solution. 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RWPalladioL-Roma"/>
                <a:ea typeface="+mn-ea"/>
                <a:cs typeface="+mn-cs"/>
              </a:rPr>
              <a:t>For these practical problems, we have to rely on numerical methods to derive a reasonable solution in an iterative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RWPalladioL-Roma"/>
                <a:ea typeface="+mn-ea"/>
                <a:cs typeface="+mn-cs"/>
              </a:rPr>
              <a:t>fashion.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6991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065F-B387-2E02-6EEC-A2579A31B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5727"/>
            <a:ext cx="8229600" cy="1014754"/>
          </a:xfrm>
        </p:spPr>
        <p:txBody>
          <a:bodyPr>
            <a:normAutofit fontScale="90000"/>
          </a:bodyPr>
          <a:lstStyle/>
          <a:p>
            <a:r>
              <a:rPr lang="en-IN" sz="4000" b="1" dirty="0"/>
              <a:t>Gradient (Steepest) Descent Method for Unconstrained optimization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D173-7858-E086-1C9B-73DA37945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518150"/>
          </a:xfrm>
        </p:spPr>
        <p:txBody>
          <a:bodyPr>
            <a:normAutofit/>
          </a:bodyPr>
          <a:lstStyle/>
          <a:p>
            <a:pPr algn="l"/>
            <a:endParaRPr lang="en-US" sz="1800" dirty="0">
              <a:latin typeface="URWPalladioL-Roma"/>
            </a:endParaRPr>
          </a:p>
          <a:p>
            <a:pPr algn="l"/>
            <a:r>
              <a:rPr lang="en-US" sz="1800" b="0" i="0" u="none" strike="noStrike" baseline="0" dirty="0">
                <a:latin typeface="URWPalladioL-Roma"/>
              </a:rPr>
              <a:t>Consider a simple unconstrained optimization problem:</a:t>
            </a:r>
          </a:p>
          <a:p>
            <a:pPr algn="l"/>
            <a:r>
              <a:rPr lang="en-US" sz="1800" b="1" i="0" u="none" strike="noStrike" baseline="0" dirty="0">
                <a:latin typeface="URWPalladioL-Roma"/>
              </a:rPr>
              <a:t>Note:</a:t>
            </a:r>
            <a:r>
              <a:rPr lang="en-US" sz="1800" b="0" i="0" u="none" strike="noStrike" baseline="0" dirty="0">
                <a:latin typeface="URWPalladioL-Roma"/>
              </a:rPr>
              <a:t> arguments of the minima is abbreviated </a:t>
            </a:r>
            <a:r>
              <a:rPr lang="en-US" sz="1800" b="0" i="0" u="none" strike="noStrike" baseline="0" dirty="0" err="1">
                <a:latin typeface="URWPalladioL-Roma"/>
              </a:rPr>
              <a:t>arg</a:t>
            </a:r>
            <a:r>
              <a:rPr lang="en-US" sz="1800" b="0" i="0" u="none" strike="noStrike" baseline="0" dirty="0">
                <a:latin typeface="URWPalladioL-Roma"/>
              </a:rPr>
              <a:t> min or </a:t>
            </a:r>
            <a:r>
              <a:rPr lang="en-US" sz="1800" b="0" i="0" u="none" strike="noStrike" baseline="0" dirty="0" err="1">
                <a:latin typeface="URWPalladioL-Roma"/>
              </a:rPr>
              <a:t>argmin</a:t>
            </a:r>
            <a:r>
              <a:rPr lang="en-US" sz="1800" dirty="0">
                <a:latin typeface="URWPalladioL-Roma"/>
              </a:rPr>
              <a:t>.</a:t>
            </a:r>
            <a:endParaRPr lang="en-US" sz="1800" b="0" i="0" u="none" strike="noStrike" baseline="0" dirty="0">
              <a:latin typeface="URWPalladioL-Roma"/>
            </a:endParaRPr>
          </a:p>
          <a:p>
            <a:pPr algn="l"/>
            <a:r>
              <a:rPr lang="en-US" sz="1800" b="0" i="0" u="none" strike="noStrike" baseline="0" dirty="0">
                <a:latin typeface="URWPalladioL-Roma"/>
              </a:rPr>
              <a:t>Assume function </a:t>
            </a:r>
            <a:r>
              <a:rPr lang="en-US" sz="1800" b="0" i="0" u="none" strike="noStrike" baseline="0" dirty="0">
                <a:latin typeface="NimbusRomNo9L-ReguItal"/>
              </a:rPr>
              <a:t>f(</a:t>
            </a:r>
            <a:r>
              <a:rPr lang="en-US" sz="1800" b="1" i="0" u="none" strike="noStrike" baseline="0" dirty="0">
                <a:latin typeface="URWPalladioL-Bold"/>
              </a:rPr>
              <a:t>x</a:t>
            </a:r>
            <a:r>
              <a:rPr lang="en-US" sz="1800" b="0" i="0" u="none" strike="noStrike" baseline="0" dirty="0">
                <a:latin typeface="txsys"/>
              </a:rPr>
              <a:t>) </a:t>
            </a:r>
            <a:r>
              <a:rPr lang="en-US" sz="1800" b="0" i="0" u="none" strike="noStrike" baseline="0" dirty="0">
                <a:latin typeface="URWPalladioL-Roma"/>
              </a:rPr>
              <a:t>is differentiable: we can compute all partial derivatives with respect to each element in </a:t>
            </a:r>
            <a:r>
              <a:rPr lang="en-US" sz="1800" b="1" i="0" u="none" strike="noStrike" baseline="0" dirty="0">
                <a:latin typeface="URWPalladioL-Bold"/>
              </a:rPr>
              <a:t>x</a:t>
            </a:r>
            <a:r>
              <a:rPr lang="en-US" sz="1800" b="0" i="0" u="none" strike="noStrike" baseline="0" dirty="0">
                <a:latin typeface="URWPalladioL-Roma"/>
              </a:rPr>
              <a:t>.</a:t>
            </a:r>
            <a:endParaRPr lang="en-US" sz="1800" dirty="0">
              <a:latin typeface="URWPalladioL-Roma"/>
            </a:endParaRPr>
          </a:p>
          <a:p>
            <a:pPr algn="l"/>
            <a:r>
              <a:rPr lang="en-US" sz="1800" dirty="0">
                <a:latin typeface="URWPalladioL-Roma"/>
              </a:rPr>
              <a:t>The gradient vector of a multivariate function 𝑓(</a:t>
            </a:r>
            <a:r>
              <a:rPr lang="en-US" sz="1800" b="1" i="1" dirty="0">
                <a:latin typeface="URWPalladioL-Roma"/>
              </a:rPr>
              <a:t>x</a:t>
            </a:r>
            <a:r>
              <a:rPr lang="en-US" sz="1800" dirty="0">
                <a:latin typeface="URWPalladioL-Roma"/>
              </a:rPr>
              <a:t>) is defined as a column vector:</a:t>
            </a:r>
          </a:p>
          <a:p>
            <a:pPr algn="l"/>
            <a:endParaRPr lang="en-US" sz="1800" dirty="0">
              <a:latin typeface="URWPalladioL-Roma"/>
            </a:endParaRPr>
          </a:p>
          <a:p>
            <a:pPr algn="l"/>
            <a:endParaRPr lang="en-US" sz="1800" dirty="0">
              <a:latin typeface="URWPalladioL-Roma"/>
            </a:endParaRPr>
          </a:p>
          <a:p>
            <a:pPr algn="l"/>
            <a:endParaRPr lang="en-US" sz="1800" dirty="0">
              <a:latin typeface="URWPalladioL-Roma"/>
            </a:endParaRPr>
          </a:p>
          <a:p>
            <a:pPr algn="l"/>
            <a:r>
              <a:rPr lang="en-US" sz="1800" b="0" i="0" u="none" strike="noStrike" baseline="0" dirty="0">
                <a:latin typeface="URWPalladioL-Roma"/>
              </a:rPr>
              <a:t>A point </a:t>
            </a:r>
            <a:r>
              <a:rPr lang="en-US" sz="1800" b="1" i="0" u="none" strike="noStrike" baseline="0" dirty="0">
                <a:latin typeface="URWPalladioL-Bold"/>
              </a:rPr>
              <a:t>x</a:t>
            </a:r>
            <a:r>
              <a:rPr lang="en-US" sz="1800" b="0" i="0" u="none" strike="noStrike" baseline="0" dirty="0">
                <a:latin typeface="URWPalladioL-Roma"/>
              </a:rPr>
              <a:t>*</a:t>
            </a:r>
            <a:r>
              <a:rPr lang="en-US" sz="1800" b="1" i="0" u="none" strike="noStrike" baseline="0" dirty="0">
                <a:latin typeface="URWPalladioL-Bold"/>
              </a:rPr>
              <a:t> </a:t>
            </a:r>
            <a:r>
              <a:rPr lang="en-US" sz="1800" b="0" i="0" u="none" strike="noStrike" baseline="0" dirty="0">
                <a:latin typeface="URWPalladioL-Roma"/>
              </a:rPr>
              <a:t>is said to be a stationary point of </a:t>
            </a:r>
            <a:r>
              <a:rPr lang="en-US" sz="1800" b="0" i="0" u="none" strike="noStrike" baseline="0" dirty="0">
                <a:latin typeface="NimbusRomNo9L-ReguItal"/>
              </a:rPr>
              <a:t>f</a:t>
            </a:r>
            <a:r>
              <a:rPr lang="en-US" sz="1800" dirty="0">
                <a:latin typeface="txsys"/>
              </a:rPr>
              <a:t>(</a:t>
            </a:r>
            <a:r>
              <a:rPr lang="en-US" sz="1800" b="1" i="0" u="none" strike="noStrike" baseline="0" dirty="0">
                <a:latin typeface="URWPalladioL-Bold"/>
              </a:rPr>
              <a:t>x</a:t>
            </a:r>
            <a:r>
              <a:rPr lang="en-US" sz="1800" dirty="0">
                <a:latin typeface="txsys"/>
              </a:rPr>
              <a:t>)</a:t>
            </a:r>
            <a:r>
              <a:rPr lang="en-US" sz="1800" b="0" i="0" u="none" strike="noStrike" baseline="0" dirty="0">
                <a:latin typeface="txsys"/>
              </a:rPr>
              <a:t> </a:t>
            </a:r>
            <a:r>
              <a:rPr lang="en-US" sz="1800" b="0" i="0" u="none" strike="noStrike" baseline="0" dirty="0">
                <a:latin typeface="URWPalladioL-Roma"/>
              </a:rPr>
              <a:t>if all partial derivatives are 0 at </a:t>
            </a:r>
            <a:r>
              <a:rPr lang="en-US" sz="1800" b="1" i="0" u="none" strike="noStrike" baseline="0" dirty="0">
                <a:latin typeface="URWPalladioL-Bold"/>
              </a:rPr>
              <a:t>x</a:t>
            </a:r>
            <a:r>
              <a:rPr lang="en-US" sz="1800" b="0" i="0" u="none" strike="noStrike" baseline="0" dirty="0">
                <a:latin typeface="URWPalladioL-Roma"/>
              </a:rPr>
              <a:t>*; that is, the gradient vanishes at </a:t>
            </a:r>
            <a:r>
              <a:rPr lang="en-US" sz="1800" b="1" i="0" u="none" strike="noStrike" baseline="0" dirty="0">
                <a:latin typeface="URWPalladioL-Bold"/>
              </a:rPr>
              <a:t>x</a:t>
            </a:r>
            <a:r>
              <a:rPr lang="en-US" sz="1800" b="0" i="0" u="none" strike="noStrike" baseline="0" dirty="0">
                <a:latin typeface="URWPalladioL-Roma"/>
              </a:rPr>
              <a:t>* .</a:t>
            </a:r>
          </a:p>
          <a:p>
            <a:pPr algn="l"/>
            <a:r>
              <a:rPr lang="en-US" sz="1800" dirty="0">
                <a:latin typeface="URWPalladioL-Roma"/>
              </a:rPr>
              <a:t>Which is minima here for f(</a:t>
            </a:r>
            <a:r>
              <a:rPr lang="en-US" sz="1800" b="1" dirty="0">
                <a:latin typeface="URWPalladioL-Roma"/>
              </a:rPr>
              <a:t>x</a:t>
            </a:r>
            <a:r>
              <a:rPr lang="en-US" sz="1800" dirty="0">
                <a:latin typeface="URWPalladioL-Roma"/>
              </a:rPr>
              <a:t>).</a:t>
            </a:r>
          </a:p>
          <a:p>
            <a:pPr algn="l"/>
            <a:endParaRPr lang="en-US" sz="1800" dirty="0">
              <a:latin typeface="URWPalladioL-Roma"/>
            </a:endParaRPr>
          </a:p>
          <a:p>
            <a:r>
              <a:rPr lang="en-US" sz="1800" b="0" i="0" u="none" strike="noStrike" baseline="0" dirty="0">
                <a:latin typeface="URWPalladioL-Roma"/>
              </a:rPr>
              <a:t>If the gradient </a:t>
            </a:r>
            <a:r>
              <a:rPr lang="en-US" sz="1800" dirty="0">
                <a:latin typeface="txsys"/>
              </a:rPr>
              <a:t>o</a:t>
            </a:r>
            <a:r>
              <a:rPr lang="en-US" sz="1800" b="0" i="0" u="none" strike="noStrike" baseline="0" dirty="0">
                <a:latin typeface="NimbusRomNo9L-ReguItal"/>
              </a:rPr>
              <a:t>f </a:t>
            </a:r>
            <a:r>
              <a:rPr lang="en-US" sz="1800" b="0" i="0" u="none" strike="noStrike" baseline="0" dirty="0">
                <a:latin typeface="URWPalladioL-Roma"/>
              </a:rPr>
              <a:t>is nonzero, it points to the direction of the fastest increase of the function value at </a:t>
            </a:r>
            <a:r>
              <a:rPr lang="en-US" sz="1800" b="1" i="0" u="none" strike="noStrike" baseline="0" dirty="0">
                <a:latin typeface="URWPalladioL-Bold"/>
              </a:rPr>
              <a:t>x</a:t>
            </a:r>
            <a:r>
              <a:rPr lang="en-US" sz="1800" b="0" i="0" u="none" strike="noStrike" baseline="0" dirty="0">
                <a:latin typeface="URWPalladioL-Roma"/>
              </a:rPr>
              <a:t>. </a:t>
            </a:r>
          </a:p>
          <a:p>
            <a:pPr algn="l"/>
            <a:endParaRPr lang="en-US" sz="1800" dirty="0">
              <a:latin typeface="URWPalladioL-Roma"/>
            </a:endParaRPr>
          </a:p>
          <a:p>
            <a:pPr algn="l"/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72D9D-429B-7FF8-E13C-6166FD23D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30-12-2025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6BE66-C793-8739-DAAC-251EBA32D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1461E-DCDF-E704-FDB8-6DB7B4613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F6D52E-AB72-7815-F285-24954A6CA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966574"/>
            <a:ext cx="1600200" cy="6125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0FD513-9BD4-D65A-71ED-66A997DC0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743200"/>
            <a:ext cx="1938384" cy="10827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26F445-6F8B-EB51-CA9C-C1BB140D0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089" y="550559"/>
            <a:ext cx="730940" cy="13299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7FB54A-1DD8-CA5D-9978-2EC20A560D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400" y="4107843"/>
            <a:ext cx="2200582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603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451"/>
            <a:ext cx="8229600" cy="1020762"/>
          </a:xfrm>
        </p:spPr>
        <p:txBody>
          <a:bodyPr>
            <a:normAutofit/>
          </a:bodyPr>
          <a:lstStyle/>
          <a:p>
            <a:r>
              <a:rPr lang="en-IN" b="1" dirty="0"/>
              <a:t>Gradient Descent (GD)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59" y="907573"/>
            <a:ext cx="8229600" cy="1903413"/>
          </a:xfrm>
        </p:spPr>
        <p:txBody>
          <a:bodyPr/>
          <a:lstStyle/>
          <a:p>
            <a:pPr algn="just"/>
            <a:r>
              <a:rPr lang="en-IN" sz="1800" b="0" i="0" u="none" strike="noStrike" baseline="0" dirty="0">
                <a:latin typeface="URWPalladioL-Roma"/>
              </a:rPr>
              <a:t>As shown in </a:t>
            </a:r>
            <a:r>
              <a:rPr lang="en-US" sz="1800" b="0" i="0" u="none" strike="noStrike" baseline="0" dirty="0">
                <a:latin typeface="URWPalladioL-Roma"/>
              </a:rPr>
              <a:t>Figure, starting from any point on the function surface, if we move a sufficiently small step along the direction of the negative gradient, it is guaranteed that the function value will be more or less decreased. </a:t>
            </a:r>
          </a:p>
          <a:p>
            <a:pPr algn="just"/>
            <a:r>
              <a:rPr lang="en-US" sz="1800" b="0" i="0" u="none" strike="noStrike" baseline="0" dirty="0">
                <a:latin typeface="URWPalladioL-Roma"/>
              </a:rPr>
              <a:t>We can repeat this step over and over until it converges to any stationary point.</a:t>
            </a:r>
          </a:p>
          <a:p>
            <a:pPr algn="just"/>
            <a:r>
              <a:rPr lang="en-US" sz="1800" b="0" i="0" u="none" strike="noStrike" baseline="0" dirty="0">
                <a:latin typeface="URWPalladioL-Roma"/>
              </a:rPr>
              <a:t>This idea leads to a simple iterative optimization method, called </a:t>
            </a:r>
            <a:r>
              <a:rPr lang="en-US" sz="1800" b="0" i="0" u="none" strike="noStrike" baseline="0" dirty="0">
                <a:latin typeface="URWPalladioL-Ital"/>
              </a:rPr>
              <a:t>gradient descent </a:t>
            </a:r>
            <a:r>
              <a:rPr lang="en-US" sz="1800" b="0" i="0" u="none" strike="noStrike" baseline="0" dirty="0">
                <a:latin typeface="URWPalladioL-Roma"/>
              </a:rPr>
              <a:t>(a.k.a. </a:t>
            </a:r>
            <a:r>
              <a:rPr lang="en-US" sz="1800" b="0" i="0" u="none" strike="noStrike" baseline="0" dirty="0">
                <a:latin typeface="URWPalladioL-Ital"/>
              </a:rPr>
              <a:t>steepest descent</a:t>
            </a:r>
            <a:r>
              <a:rPr lang="en-US" sz="1800" b="0" i="0" u="none" strike="noStrike" baseline="0" dirty="0">
                <a:latin typeface="URWPalladioL-Roma"/>
              </a:rPr>
              <a:t>).</a:t>
            </a:r>
            <a:endParaRPr lang="en-US" dirty="0"/>
          </a:p>
          <a:p>
            <a:pPr algn="just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E08C03-7946-3139-B108-48DE9431C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61" y="3102355"/>
            <a:ext cx="2163651" cy="170645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82C7557-1242-1F69-A724-2934797F4549}"/>
              </a:ext>
            </a:extLst>
          </p:cNvPr>
          <p:cNvSpPr txBox="1">
            <a:spLocks/>
          </p:cNvSpPr>
          <p:nvPr/>
        </p:nvSpPr>
        <p:spPr>
          <a:xfrm>
            <a:off x="304800" y="5468253"/>
            <a:ext cx="8534400" cy="1776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RWPalladioL-Roma"/>
                <a:ea typeface="+mn-ea"/>
                <a:cs typeface="+mn-cs"/>
              </a:rPr>
              <a:t>Because the gradient cannot tell us how much we should move along the direction, we have to use a manually specified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RWPalladioL-Ital"/>
                <a:ea typeface="+mn-ea"/>
                <a:cs typeface="+mn-cs"/>
              </a:rPr>
              <a:t>step size 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η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ntxmi7"/>
                <a:ea typeface="+mn-ea"/>
                <a:cs typeface="+mn-cs"/>
              </a:rPr>
              <a:t>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ntxmi7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RWPalladioL-Roma"/>
                <a:ea typeface="+mn-ea"/>
                <a:cs typeface="+mn-cs"/>
              </a:rPr>
              <a:t>for each move.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RWPalladioL-Roma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DD9A7A-FFFE-EE4D-9910-C200E31A1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2534327"/>
            <a:ext cx="4694327" cy="284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945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020762"/>
          </a:xfrm>
        </p:spPr>
        <p:txBody>
          <a:bodyPr>
            <a:normAutofit/>
          </a:bodyPr>
          <a:lstStyle/>
          <a:p>
            <a:r>
              <a:rPr lang="en-IN" b="1" dirty="0"/>
              <a:t>Gradient Descent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8200"/>
                <a:ext cx="8382000" cy="46482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0" i="0" u="none" strike="noStrike" baseline="0" dirty="0">
                    <a:latin typeface="URWPalladioL-Roma"/>
                  </a:rPr>
                  <a:t>The key in the gradient descent method is how to properly choose the step size for each iteration. </a:t>
                </a:r>
              </a:p>
              <a:p>
                <a:pPr algn="just"/>
                <a:r>
                  <a:rPr lang="en-US" sz="1800" b="0" i="0" u="none" strike="noStrike" baseline="0" dirty="0">
                    <a:latin typeface="URWPalladioL-Roma"/>
                  </a:rPr>
                  <a:t>If the step sizes are too small, the convergence will be slow because it needs to run too many updates to reach any stationary point. </a:t>
                </a:r>
              </a:p>
              <a:p>
                <a:pPr algn="just"/>
                <a:r>
                  <a:rPr lang="en-US" sz="1800" b="0" i="0" u="none" strike="noStrike" baseline="0" dirty="0">
                    <a:latin typeface="URWPalladioL-Roma"/>
                  </a:rPr>
                  <a:t>On the other hand, if the step sizes are too large, each update may overshoot the target and cause the fluctuation shown in Figure. </a:t>
                </a:r>
              </a:p>
              <a:p>
                <a:pPr algn="just"/>
                <a:r>
                  <a:rPr lang="en-US" sz="1800" b="0" i="0" u="none" strike="noStrike" baseline="0" dirty="0">
                    <a:latin typeface="URWPalladioL-Roma"/>
                  </a:rPr>
                  <a:t>As we come close to a stationary point, we usually need to use an even smaller step size to ensure the convergence.</a:t>
                </a:r>
              </a:p>
              <a:p>
                <a:pPr algn="just"/>
                <a:r>
                  <a:rPr lang="en-US" sz="1800" b="0" i="0" u="none" strike="noStrike" baseline="0" dirty="0">
                    <a:latin typeface="URWPalladioL-Roma"/>
                  </a:rPr>
                  <a:t>Choosing a good initial point is another key factor in ensuring the success of the gradient </a:t>
                </a:r>
                <a:r>
                  <a:rPr lang="en-IN" sz="1800" b="0" i="0" u="none" strike="noStrike" baseline="0" dirty="0">
                    <a:latin typeface="URWPalladioL-Roma"/>
                  </a:rPr>
                  <a:t>descent method.</a:t>
                </a:r>
                <a:endParaRPr lang="en-IN" sz="1800" dirty="0"/>
              </a:p>
              <a:p>
                <a:pPr algn="just"/>
                <a:r>
                  <a:rPr lang="en-IN" sz="1800" b="0" i="0" u="none" strike="noStrike" baseline="0" dirty="0">
                    <a:latin typeface="URWPalladioL-Roma"/>
                  </a:rPr>
                  <a:t>If the objective </a:t>
                </a:r>
                <a:r>
                  <a:rPr lang="en-US" sz="1800" b="0" i="0" u="none" strike="noStrike" baseline="0" dirty="0">
                    <a:latin typeface="URWPalladioL-Roma"/>
                  </a:rPr>
                  <a:t>function is smooth and differentiable, we can theoretically prove that the gradient descent algorithm is guaranteed to converge to a stationary point as long as a sufficiently small step size is used at each iteration.</a:t>
                </a:r>
              </a:p>
              <a:p>
                <a:r>
                  <a:rPr lang="en-US" sz="1800" b="0" i="0" u="none" strike="noStrike" baseline="0" dirty="0">
                    <a:latin typeface="URWPalladioL-Roma"/>
                  </a:rPr>
                  <a:t>If we want to achieve accuracy of minima till </a:t>
                </a:r>
                <a14:m>
                  <m:oMath xmlns:m="http://schemas.openxmlformats.org/officeDocument/2006/math">
                    <m:r>
                      <a:rPr lang="en-IN" sz="1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endChr m:val="|"/>
                        <m:ctrlPr>
                          <a:rPr lang="en-IN" sz="18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IN" sz="1800" b="0" i="1" u="none" strike="noStrike" baseline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sz="1800" b="0" i="1" u="none" strike="noStrike" baseline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800" b="1" i="1" u="none" strike="noStrike" baseline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en-IN" sz="1800" b="0" i="1" u="none" strike="noStrike" baseline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l-GR" sz="18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1800" b="0" i="0" u="none" strike="noStrike" baseline="0" dirty="0">
                    <a:latin typeface="URWPalladioL-Roma"/>
                  </a:rPr>
                  <a:t>, where </a:t>
                </a:r>
                <a14:m>
                  <m:oMath xmlns:m="http://schemas.openxmlformats.org/officeDocument/2006/math">
                    <m:r>
                      <a:rPr lang="el-G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l-G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u="none" strike="noStrike" baseline="0" dirty="0">
                    <a:latin typeface="URWPalladioL-Roma"/>
                  </a:rPr>
                  <a:t>is accuracy required </a:t>
                </a:r>
                <a:r>
                  <a:rPr lang="en-US" sz="1800" dirty="0">
                    <a:latin typeface="URWPalladioL-Roma"/>
                  </a:rPr>
                  <a:t>and used as stopping criteria; </a:t>
                </a:r>
                <a:r>
                  <a:rPr lang="en-US" sz="1800" b="0" i="0" u="none" strike="noStrike" baseline="0" dirty="0">
                    <a:latin typeface="URWPalladioL-Roma"/>
                  </a:rPr>
                  <a:t>we need to run at least </a:t>
                </a:r>
                <a:r>
                  <a:rPr lang="en-US" sz="1800" b="0" i="0" u="none" strike="noStrike" baseline="0" dirty="0">
                    <a:latin typeface="NimbusRomNo9L-ReguItal"/>
                  </a:rPr>
                  <a:t>O(1/</a:t>
                </a:r>
                <a:r>
                  <a:rPr lang="el-GR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1800" b="0" i="0" u="none" strike="noStrike" baseline="30000" dirty="0">
                    <a:latin typeface="txsys"/>
                  </a:rPr>
                  <a:t>2</a:t>
                </a:r>
                <a:r>
                  <a:rPr lang="en-US" sz="1800" b="0" i="0" u="none" strike="noStrike" dirty="0">
                    <a:latin typeface="txsys"/>
                  </a:rPr>
                  <a:t>)</a:t>
                </a:r>
                <a:r>
                  <a:rPr lang="en-US" sz="1800" b="0" i="0" u="none" strike="noStrike" baseline="0" dirty="0">
                    <a:latin typeface="txsys"/>
                  </a:rPr>
                  <a:t> </a:t>
                </a:r>
                <a:r>
                  <a:rPr lang="en-IN" sz="1800" b="0" i="0" u="none" strike="noStrike" baseline="0" dirty="0">
                    <a:latin typeface="URWPalladioL-Roma"/>
                  </a:rPr>
                  <a:t>iterations.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8200"/>
                <a:ext cx="8382000" cy="4648200"/>
              </a:xfrm>
              <a:blipFill>
                <a:blip r:embed="rId2"/>
                <a:stretch>
                  <a:fillRect l="-436" t="-787" r="-5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9752ED-7B42-3D8E-9EC1-4F4C1984E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5486400"/>
            <a:ext cx="2043953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51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679E6-E1E2-D61C-86F3-1A0ADB846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032"/>
            <a:ext cx="8229600" cy="1143000"/>
          </a:xfrm>
        </p:spPr>
        <p:txBody>
          <a:bodyPr>
            <a:normAutofit/>
          </a:bodyPr>
          <a:lstStyle/>
          <a:p>
            <a:r>
              <a:rPr lang="en-IN" sz="3000" dirty="0"/>
              <a:t>Optimality Conditions with Equality Constraints: Lagrange Multiplier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7F766-9367-AFA0-11DA-D6D4D9597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0710"/>
            <a:ext cx="8229600" cy="495545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E9F9C-BEF1-110C-4AB5-AF7AC873F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30-12-2025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E6029-A291-CAC2-F691-A21BD2860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DDB63-45D6-E5AF-D40E-053FB40F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EBBFAE-CB85-14A3-7521-934D394B0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04" y="1239225"/>
            <a:ext cx="6629338" cy="14629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283118-6690-6D2D-2FE4-59A17068A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4" y="2586101"/>
            <a:ext cx="4943596" cy="40432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056999-4616-1BF4-3B57-CAD2F4F8F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509" y="4752056"/>
            <a:ext cx="5522491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861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C5232-CBEF-490E-3099-C3721CCCC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Optimality Conditions with Inequality Constraints: KKT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892CD-C125-36E2-38C0-41E6A0DF0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874F2-1B9F-CDD9-AC45-398828A2F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30-12-2025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9003C-B4E8-31B7-57D6-2090B4277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37931-62C2-CB32-93D7-0C5BA3D36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CA07F2-6D3D-F55A-5C4C-7B36E9EFC7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274"/>
          <a:stretch/>
        </p:blipFill>
        <p:spPr>
          <a:xfrm>
            <a:off x="54391" y="1143000"/>
            <a:ext cx="3755609" cy="1828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BAA1AB-D5C7-22A7-368A-5EE4BC6E2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275" y="1295400"/>
            <a:ext cx="4869725" cy="19827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2911A23-5610-561C-198B-065FAF9EE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279" y="3276600"/>
            <a:ext cx="5319221" cy="351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351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C2536-C226-C4C7-1221-E3FE0034F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Optimality Conditions with Inequality Constraints: KKT Conditions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8A3BD-88A7-28A1-CD50-845EBE063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30-12-2025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5AE6D-868B-2403-AB28-222339BAD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FAAC6-FE88-239F-E3E0-BAC8B6BAA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53DB5C-7904-FCFD-4B3B-E328339AD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387" y="1143000"/>
            <a:ext cx="6965013" cy="27431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AA952D95-3CE8-2665-46B5-8C3B5C3548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4022725"/>
                <a:ext cx="8077200" cy="2835275"/>
              </a:xfrm>
            </p:spPr>
            <p:txBody>
              <a:bodyPr>
                <a:normAutofit fontScale="77500" lnSpcReduction="20000"/>
              </a:bodyPr>
              <a:lstStyle/>
              <a:p>
                <a:pPr algn="just"/>
                <a:r>
                  <a:rPr lang="en-IN" b="1" dirty="0"/>
                  <a:t>General Procedure to approach the problem: </a:t>
                </a:r>
              </a:p>
              <a:p>
                <a:pPr lvl="1" algn="just"/>
                <a:r>
                  <a:rPr lang="en-IN" dirty="0"/>
                  <a:t>Look for candidate solutions </a:t>
                </a:r>
                <a:r>
                  <a:rPr lang="en-IN" b="1" dirty="0"/>
                  <a:t>x</a:t>
                </a:r>
                <a:r>
                  <a:rPr lang="en-IN" b="1" baseline="-25000" dirty="0"/>
                  <a:t>*</a:t>
                </a:r>
                <a:r>
                  <a:rPr lang="en-IN" baseline="-25000" dirty="0"/>
                  <a:t> </a:t>
                </a:r>
                <a:r>
                  <a:rPr lang="en-IN" dirty="0"/>
                  <a:t>for which we can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/>
                          </a:rPr>
                          <m:t>𝑣</m:t>
                        </m:r>
                      </m:e>
                      <m:sub>
                        <m:r>
                          <a:rPr lang="en-IN" i="1">
                            <a:latin typeface="Cambria Math"/>
                            <a:ea typeface="Cambria Math"/>
                          </a:rPr>
                          <m:t>𝑗</m:t>
                        </m:r>
                        <m:r>
                          <a:rPr lang="en-IN" b="0" i="1" smtClean="0">
                            <a:latin typeface="Cambria Math"/>
                            <a:ea typeface="Cambria Math"/>
                          </a:rPr>
                          <m:t>∗</m:t>
                        </m:r>
                        <m:r>
                          <a:rPr lang="en-IN" i="1">
                            <a:latin typeface="Cambria Math"/>
                            <a:ea typeface="Cambria Math"/>
                          </a:rPr>
                          <m:t>;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1">
                            <a:latin typeface="Cambria Math"/>
                            <a:ea typeface="Cambria Math"/>
                          </a:rPr>
                          <m:t>𝜆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b="0" i="1" smtClean="0">
                            <a:latin typeface="Cambria Math"/>
                          </a:rPr>
                          <m:t>∗</m:t>
                        </m:r>
                      </m:sub>
                    </m:sSub>
                  </m:oMath>
                </a14:m>
                <a:endParaRPr lang="en-IN" dirty="0"/>
              </a:p>
              <a:p>
                <a:pPr lvl="1" algn="just"/>
                <a:r>
                  <a:rPr lang="en-IN" dirty="0"/>
                  <a:t>Solve these equations using complementary slackness</a:t>
                </a:r>
              </a:p>
              <a:p>
                <a:pPr lvl="1" algn="just"/>
                <a:r>
                  <a:rPr lang="en-IN" dirty="0"/>
                  <a:t>At optimality some constraints will be binding and some will be slack</a:t>
                </a:r>
              </a:p>
              <a:p>
                <a:pPr lvl="1" algn="just"/>
                <a:r>
                  <a:rPr lang="en-IN" dirty="0"/>
                  <a:t>Slack constraints will have a corresponding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/>
                          </a:rPr>
                          <m:t>𝑣</m:t>
                        </m:r>
                      </m:e>
                      <m:sub>
                        <m:r>
                          <a:rPr lang="en-IN" i="1">
                            <a:latin typeface="Cambria Math"/>
                            <a:ea typeface="Cambria Math"/>
                          </a:rPr>
                          <m:t>𝑗</m:t>
                        </m:r>
                        <m:r>
                          <a:rPr lang="en-IN" b="0" i="1" smtClean="0">
                            <a:latin typeface="Cambria Math"/>
                            <a:ea typeface="Cambria Math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IN" dirty="0"/>
                  <a:t> of zero </a:t>
                </a:r>
              </a:p>
              <a:p>
                <a:pPr lvl="1" algn="just"/>
                <a:r>
                  <a:rPr lang="en-IN" dirty="0"/>
                  <a:t>Binding constraints can be treated using the </a:t>
                </a:r>
                <a:r>
                  <a:rPr lang="en-IN" dirty="0" err="1"/>
                  <a:t>Lagrangian</a:t>
                </a:r>
                <a:endParaRPr lang="en-IN" dirty="0"/>
              </a:p>
              <a:p>
                <a:pPr algn="just"/>
                <a:endParaRPr lang="en-IN" dirty="0"/>
              </a:p>
            </p:txBody>
          </p:sp>
        </mc:Choice>
        <mc:Fallback xmlns="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AA952D95-3CE8-2665-46B5-8C3B5C3548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4022725"/>
                <a:ext cx="8077200" cy="2835275"/>
              </a:xfrm>
              <a:blipFill>
                <a:blip r:embed="rId3"/>
                <a:stretch>
                  <a:fillRect l="-1057" t="-4086" r="-9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8586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7C045-7173-3B72-BB99-7193A7122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35" y="68264"/>
            <a:ext cx="8229600" cy="1143000"/>
          </a:xfrm>
        </p:spPr>
        <p:txBody>
          <a:bodyPr/>
          <a:lstStyle/>
          <a:p>
            <a:r>
              <a:rPr lang="en-IN" dirty="0"/>
              <a:t>Examples: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6A9A1-471E-E67D-3039-B00F91676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535" y="1166018"/>
            <a:ext cx="8229600" cy="5006182"/>
          </a:xfrm>
        </p:spPr>
        <p:txBody>
          <a:bodyPr>
            <a:normAutofit fontScale="92500" lnSpcReduction="20000"/>
          </a:bodyPr>
          <a:lstStyle/>
          <a:p>
            <a:pPr marL="0" lvl="0" indent="0" algn="just">
              <a:buNone/>
            </a:pPr>
            <a:endParaRPr lang="en-IN" dirty="0"/>
          </a:p>
          <a:p>
            <a:pPr lvl="0" algn="just"/>
            <a:r>
              <a:rPr lang="en-IN" dirty="0"/>
              <a:t>A function is given by z = f (</a:t>
            </a:r>
            <a:r>
              <a:rPr lang="en-IN" b="1" dirty="0"/>
              <a:t>w</a:t>
            </a:r>
            <a:r>
              <a:rPr lang="en-IN" dirty="0"/>
              <a:t>); </a:t>
            </a:r>
            <a:r>
              <a:rPr lang="en-IN" b="1" dirty="0"/>
              <a:t>w</a:t>
            </a:r>
            <a:r>
              <a:rPr lang="en-IN" dirty="0"/>
              <a:t> ∈ ℝ</a:t>
            </a:r>
            <a:r>
              <a:rPr lang="en-IN" baseline="30000" dirty="0"/>
              <a:t>2</a:t>
            </a:r>
            <a:r>
              <a:rPr lang="en-IN" dirty="0"/>
              <a:t>; </a:t>
            </a:r>
            <a:r>
              <a:rPr lang="en-IN" i="1" dirty="0"/>
              <a:t>f</a:t>
            </a:r>
            <a:r>
              <a:rPr lang="en-IN" dirty="0"/>
              <a:t> (</a:t>
            </a:r>
            <a:r>
              <a:rPr lang="en-IN" b="1" dirty="0"/>
              <a:t>w</a:t>
            </a:r>
            <a:r>
              <a:rPr lang="en-IN" dirty="0"/>
              <a:t>) is square of 2</a:t>
            </a:r>
            <a:r>
              <a:rPr lang="en-IN" baseline="30000" dirty="0"/>
              <a:t>nd</a:t>
            </a:r>
            <a:r>
              <a:rPr lang="en-IN" dirty="0"/>
              <a:t> norm of w. Write an optimization problem to minimize z with constraint that sum of elements of </a:t>
            </a:r>
            <a:r>
              <a:rPr lang="en-IN" b="1" dirty="0"/>
              <a:t>w</a:t>
            </a:r>
            <a:r>
              <a:rPr lang="en-IN" dirty="0"/>
              <a:t> should be equal to 1. Solve it by using Lagrange’s multiplier method.</a:t>
            </a:r>
          </a:p>
          <a:p>
            <a:pPr marL="0" lvl="0" indent="0" algn="just">
              <a:buNone/>
            </a:pPr>
            <a:endParaRPr lang="en-IN" dirty="0"/>
          </a:p>
          <a:p>
            <a:pPr algn="just"/>
            <a:r>
              <a:rPr lang="en-IN" dirty="0"/>
              <a:t>A function is given by z = </a:t>
            </a:r>
            <a:r>
              <a:rPr lang="en-IN" i="1" dirty="0"/>
              <a:t>f</a:t>
            </a:r>
            <a:r>
              <a:rPr lang="en-IN" dirty="0"/>
              <a:t> (</a:t>
            </a:r>
            <a:r>
              <a:rPr lang="en-IN" b="1" dirty="0"/>
              <a:t>w</a:t>
            </a:r>
            <a:r>
              <a:rPr lang="en-IN" dirty="0"/>
              <a:t>); </a:t>
            </a:r>
            <a:r>
              <a:rPr lang="en-IN" b="1" dirty="0"/>
              <a:t>w</a:t>
            </a:r>
            <a:r>
              <a:rPr lang="en-IN" dirty="0"/>
              <a:t> ∈</a:t>
            </a:r>
            <a:r>
              <a:rPr lang="en-IN" b="1" dirty="0"/>
              <a:t> ℝ</a:t>
            </a:r>
            <a:r>
              <a:rPr lang="en-IN" baseline="30000" dirty="0"/>
              <a:t>2; </a:t>
            </a:r>
            <a:r>
              <a:rPr lang="en-IN" i="1" dirty="0"/>
              <a:t>f</a:t>
            </a:r>
            <a:r>
              <a:rPr lang="en-IN" dirty="0"/>
              <a:t> (</a:t>
            </a:r>
            <a:r>
              <a:rPr lang="en-IN" b="1" dirty="0"/>
              <a:t>w</a:t>
            </a:r>
            <a:r>
              <a:rPr lang="en-IN" dirty="0"/>
              <a:t>) is square of 2</a:t>
            </a:r>
            <a:r>
              <a:rPr lang="en-IN" baseline="30000" dirty="0"/>
              <a:t>nd</a:t>
            </a:r>
            <a:r>
              <a:rPr lang="en-IN" dirty="0"/>
              <a:t> norm of </a:t>
            </a:r>
            <a:r>
              <a:rPr lang="en-IN" b="1" dirty="0"/>
              <a:t>w. </a:t>
            </a:r>
            <a:r>
              <a:rPr lang="en-IN" dirty="0"/>
              <a:t>Write an optimization problem to minimize z with constraint that sum of elements of </a:t>
            </a:r>
            <a:r>
              <a:rPr lang="en-IN" b="1" dirty="0"/>
              <a:t>w</a:t>
            </a:r>
            <a:r>
              <a:rPr lang="en-IN" dirty="0"/>
              <a:t> should be less than or equal to 1. Solve it by using KKT condition method.</a:t>
            </a:r>
          </a:p>
          <a:p>
            <a:pPr lvl="0" algn="just"/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127DD-AC3B-8A7A-56D3-5239D8D06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30-12-2025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B6E99-6448-6A82-5F5A-D7BA2991D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DF130-742F-8FAA-5E9E-37D5DEFAE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9683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CE4AA-37FB-F6D7-D7C9-F7DAB4574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026" y="-6668"/>
            <a:ext cx="8229600" cy="114300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Assignment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A2D54-FE8E-2B03-6878-B001EB46F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255" y="1307587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IN" dirty="0"/>
              <a:t>1. Find minima </a:t>
            </a:r>
          </a:p>
          <a:p>
            <a:endParaRPr lang="en-IN" dirty="0"/>
          </a:p>
          <a:p>
            <a:r>
              <a:rPr lang="en-IN" dirty="0"/>
              <a:t>2. </a:t>
            </a:r>
          </a:p>
          <a:p>
            <a:endParaRPr lang="en-IN" dirty="0"/>
          </a:p>
          <a:p>
            <a:r>
              <a:rPr lang="en-IN" dirty="0"/>
              <a:t>3.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4.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A08A8-BA0A-CB99-C797-030255B8E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30-12-2025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C43A0-D80C-5800-D0A5-DC66227E9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33E07-D188-14E2-9011-540F22C55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B6E634-C581-8D7D-2B40-2A8A4C65E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822" y="1777603"/>
            <a:ext cx="6576355" cy="4732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CD9F75-52C6-DFA0-DA57-F7DCE8BA4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472" y="2388180"/>
            <a:ext cx="3502891" cy="716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5C0CAA2-65A3-7116-5A13-42E2BC271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308" y="3429000"/>
            <a:ext cx="5403048" cy="15622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C450EA7-1932-F616-F06E-F09B7C2DB5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5186309"/>
            <a:ext cx="4839119" cy="10211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2D436E-6B27-26C1-5FA0-C610087D9309}"/>
              </a:ext>
            </a:extLst>
          </p:cNvPr>
          <p:cNvSpPr txBox="1"/>
          <p:nvPr/>
        </p:nvSpPr>
        <p:spPr>
          <a:xfrm>
            <a:off x="2479384" y="969854"/>
            <a:ext cx="4087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Note: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 independent variable 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[</a:t>
            </a:r>
            <a:r>
              <a:rPr kumimoji="0" lang="en-IN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IN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</a:t>
            </a:r>
            <a:r>
              <a:rPr kumimoji="0" lang="en-IN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422588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7746-8414-7D59-08DC-16E7D14A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508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Work Flow: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0C70D-C7B7-1CE0-2635-D231E485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17526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Assignment Problem Statement (Handwritten)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Solution (Handwritten)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4EE0E-8BBD-5799-62BD-D950E044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30-12-2025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7F78C-28FD-E9E0-F483-60F85C82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ABF50-6222-095C-1283-15DE7B2C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90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18A83D8036314F9AD3D552E201887A" ma:contentTypeVersion="3" ma:contentTypeDescription="Create a new document." ma:contentTypeScope="" ma:versionID="05de28fce94df776c23a6599f8d24276">
  <xsd:schema xmlns:xsd="http://www.w3.org/2001/XMLSchema" xmlns:xs="http://www.w3.org/2001/XMLSchema" xmlns:p="http://schemas.microsoft.com/office/2006/metadata/properties" xmlns:ns2="e04e232b-3421-42b1-ac31-b988076b4f96" targetNamespace="http://schemas.microsoft.com/office/2006/metadata/properties" ma:root="true" ma:fieldsID="39d5cd531208f9cacd8a89c696efe2c1" ns2:_="">
    <xsd:import namespace="e04e232b-3421-42b1-ac31-b988076b4f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4e232b-3421-42b1-ac31-b988076b4f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0DB207B-7FBD-46D5-B609-55AE215B13CE}"/>
</file>

<file path=customXml/itemProps2.xml><?xml version="1.0" encoding="utf-8"?>
<ds:datastoreItem xmlns:ds="http://schemas.openxmlformats.org/officeDocument/2006/customXml" ds:itemID="{C2EB5D09-1AD8-4B1A-89AF-7497827283F9}"/>
</file>

<file path=customXml/itemProps3.xml><?xml version="1.0" encoding="utf-8"?>
<ds:datastoreItem xmlns:ds="http://schemas.openxmlformats.org/officeDocument/2006/customXml" ds:itemID="{105964CA-0522-4E44-9B6C-3F67F255C06A}"/>
</file>

<file path=docProps/app.xml><?xml version="1.0" encoding="utf-8"?>
<Properties xmlns="http://schemas.openxmlformats.org/officeDocument/2006/extended-properties" xmlns:vt="http://schemas.openxmlformats.org/officeDocument/2006/docPropsVTypes">
  <TotalTime>5126</TotalTime>
  <Words>1467</Words>
  <Application>Microsoft Office PowerPoint</Application>
  <PresentationFormat>On-screen Show (4:3)</PresentationFormat>
  <Paragraphs>144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0" baseType="lpstr">
      <vt:lpstr>Arial</vt:lpstr>
      <vt:lpstr>Calibri</vt:lpstr>
      <vt:lpstr>Cambria Math</vt:lpstr>
      <vt:lpstr>CMR10</vt:lpstr>
      <vt:lpstr>NimbusRomNo9L-ReguItal</vt:lpstr>
      <vt:lpstr>rntxmi7</vt:lpstr>
      <vt:lpstr>Tahoma</vt:lpstr>
      <vt:lpstr>Times New Roman</vt:lpstr>
      <vt:lpstr>txsys</vt:lpstr>
      <vt:lpstr>URWPalladioL-Bold</vt:lpstr>
      <vt:lpstr>URWPalladioL-Ital</vt:lpstr>
      <vt:lpstr>URWPalladioL-Roma</vt:lpstr>
      <vt:lpstr>Office Theme</vt:lpstr>
      <vt:lpstr>PowerPoint Presentation</vt:lpstr>
      <vt:lpstr>Assignment 2:  Mathematical Preliminaries - II:  Mathematical Optimization</vt:lpstr>
      <vt:lpstr>Reference: </vt:lpstr>
      <vt:lpstr>Reference: </vt:lpstr>
      <vt:lpstr>Mathematical Optimization</vt:lpstr>
      <vt:lpstr>Mathematical Optimization</vt:lpstr>
      <vt:lpstr>Optimality Conditions for Unconstrained Optimization</vt:lpstr>
      <vt:lpstr>PowerPoint Presentation</vt:lpstr>
      <vt:lpstr>Gradient (Steepest) Descent Method for Unconstrained optimization </vt:lpstr>
      <vt:lpstr>Gradient Descent (GD) Algorithm</vt:lpstr>
      <vt:lpstr>Gradient Descent Algorithm</vt:lpstr>
      <vt:lpstr>Optimality Conditions with Equality Constraints: Lagrange Multiplier Method</vt:lpstr>
      <vt:lpstr>Optimality Conditions with Inequality Constraints: KKT Conditions</vt:lpstr>
      <vt:lpstr>Optimality Conditions with Inequality Constraints: KKT Conditions</vt:lpstr>
      <vt:lpstr>Examples:</vt:lpstr>
      <vt:lpstr>Assignment 2</vt:lpstr>
      <vt:lpstr>Work Flow: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Probability Theory &amp; Random Variables</dc:title>
  <dc:creator>Jigar</dc:creator>
  <cp:lastModifiedBy>Jigarkumar Shah</cp:lastModifiedBy>
  <cp:revision>599</cp:revision>
  <dcterms:created xsi:type="dcterms:W3CDTF">2006-08-16T00:00:00Z</dcterms:created>
  <dcterms:modified xsi:type="dcterms:W3CDTF">2025-12-30T09:47:00Z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0x010100B218A83D8036314F9AD3D552E201887A</vt:lpwstr>
  </property>
</Properties>
</file>