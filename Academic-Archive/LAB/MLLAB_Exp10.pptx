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460" r:id="rId4"/>
    <p:sldId id="459" r:id="rId5"/>
    <p:sldId id="461" r:id="rId6"/>
    <p:sldId id="45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19-03-2026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19-03-2026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19-03-2026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19-03-2026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19-03-2026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19-03-2026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19-03-2026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11250" y="3145414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 dirty="0"/>
              <a:t>Experiment 10: </a:t>
            </a:r>
            <a:br>
              <a:rPr lang="en-US" sz="3600" dirty="0"/>
            </a:br>
            <a:r>
              <a:rPr lang="en-IN" sz="3600" dirty="0"/>
              <a:t>Decision Tree and Random Forest Classification and Regression Algorithms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19-03-2026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>
                <a:solidFill>
                  <a:srgbClr val="FF0000"/>
                </a:solidFill>
              </a:rPr>
              <a:t>MACHINE LEARNING AND APPLICATIONS </a:t>
            </a:r>
            <a:r>
              <a:rPr lang="en-IN" sz="3200" dirty="0">
                <a:solidFill>
                  <a:srgbClr val="FF0000"/>
                </a:solidFill>
              </a:rPr>
              <a:t>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805742" y="1941901"/>
            <a:ext cx="164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EC -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Training Dataset from </a:t>
            </a:r>
            <a:r>
              <a:rPr lang="en-US" dirty="0" err="1">
                <a:solidFill>
                  <a:srgbClr val="FF0000"/>
                </a:solidFill>
              </a:rPr>
              <a:t>Sklearn</a:t>
            </a:r>
            <a:r>
              <a:rPr lang="en-US" dirty="0">
                <a:solidFill>
                  <a:srgbClr val="FF0000"/>
                </a:solidFill>
              </a:rPr>
              <a:t> Library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04191"/>
            <a:ext cx="8229600" cy="475615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Complete List of Datasets in the </a:t>
            </a:r>
            <a:r>
              <a:rPr lang="en-IN" sz="2000" b="1" i="0" dirty="0" err="1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Sklearn</a:t>
            </a:r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 Library</a:t>
            </a:r>
          </a:p>
          <a:p>
            <a:pPr algn="l">
              <a:buFont typeface="+mj-lt"/>
              <a:buAutoNum type="arabicPeriod"/>
            </a:pPr>
            <a:r>
              <a:rPr lang="en-IN" sz="2000" b="1" i="0" dirty="0">
                <a:solidFill>
                  <a:srgbClr val="3C3C3B"/>
                </a:solidFill>
                <a:effectLst/>
                <a:latin typeface="IBM Plex Sans" panose="020B0503050203000203" pitchFamily="34" charset="0"/>
              </a:rPr>
              <a:t>Iris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Diabetes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Digits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Linnerud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Wine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Breast Cancer Wisconsin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Boston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Olivetti Faces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California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MNIST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Fashion-MNIST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make_classification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make_regression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make_blobs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make_moons</a:t>
            </a: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 and </a:t>
            </a: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make_circles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Make_sparse_coded_signal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3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To install </a:t>
            </a:r>
            <a:r>
              <a:rPr lang="en-US" sz="3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pip install scikit</a:t>
            </a:r>
            <a:r>
              <a:rPr lang="en-US" sz="3400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learn</a:t>
            </a:r>
            <a:endParaRPr lang="en-IN" sz="5700" b="0" i="0" dirty="0">
              <a:solidFill>
                <a:srgbClr val="3C3C3B"/>
              </a:solidFill>
              <a:effectLst/>
              <a:latin typeface="IBM Plex Sans" panose="020B0503050203000203" pitchFamily="34" charset="0"/>
            </a:endParaRPr>
          </a:p>
          <a:p>
            <a:pPr lvl="2"/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marL="914400" lvl="2" indent="0">
              <a:buNone/>
            </a:pPr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0C5E-0917-7E94-75F4-039C1CA8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IRIS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FF1E-ABAB-C525-E699-4435C0C6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11225"/>
            <a:ext cx="8229600" cy="2716249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MinionPro-Regular"/>
              </a:rPr>
              <a:t>Contains the sepal and petal length and width of 150 IRIS flowers of three different </a:t>
            </a:r>
            <a:r>
              <a:rPr lang="pt-BR" sz="2400" b="0" i="0" u="none" strike="noStrike" baseline="0" dirty="0">
                <a:latin typeface="MinionPro-Regular"/>
              </a:rPr>
              <a:t>species: </a:t>
            </a:r>
            <a:r>
              <a:rPr lang="pt-BR" sz="2400" b="0" i="1" u="none" strike="noStrike" baseline="0" dirty="0">
                <a:latin typeface="MinionPro-It"/>
              </a:rPr>
              <a:t>Iris setosa</a:t>
            </a:r>
            <a:r>
              <a:rPr lang="pt-BR" sz="2400" b="0" i="0" u="none" strike="noStrike" baseline="0" dirty="0">
                <a:latin typeface="MinionPro-Regular"/>
              </a:rPr>
              <a:t>, </a:t>
            </a:r>
            <a:r>
              <a:rPr lang="pt-BR" sz="2400" b="0" i="1" u="none" strike="noStrike" baseline="0" dirty="0">
                <a:latin typeface="MinionPro-It"/>
              </a:rPr>
              <a:t>Iris versicolor</a:t>
            </a:r>
            <a:r>
              <a:rPr lang="pt-BR" sz="2400" b="0" i="0" u="none" strike="noStrike" baseline="0" dirty="0">
                <a:latin typeface="MinionPro-Regular"/>
              </a:rPr>
              <a:t>, and </a:t>
            </a:r>
            <a:r>
              <a:rPr lang="pt-BR" sz="2400" b="0" i="1" u="none" strike="noStrike" baseline="0" dirty="0">
                <a:latin typeface="MinionPro-It"/>
              </a:rPr>
              <a:t>Iris virginica.</a:t>
            </a:r>
            <a:endParaRPr lang="en-IN" sz="2400" b="0" i="0" u="none" strike="noStrike" baseline="0" dirty="0">
              <a:solidFill>
                <a:srgbClr val="000000"/>
              </a:solidFill>
              <a:latin typeface="URWPalladioL-R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A84E6-F805-9266-1CFD-E99AE020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19-03-2026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2F07-D16D-D5C8-EC09-51CECAA6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643E-FECE-F6B4-013B-87DBFE15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3F2C5-238F-41D1-44E1-A125A9EB4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933" y="2971800"/>
            <a:ext cx="5501640" cy="305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55306"/>
            <a:ext cx="8839200" cy="639762"/>
          </a:xfrm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FF0000"/>
                </a:solidFill>
              </a:rPr>
              <a:t>(a) Train and Test Decision Tree Classification Algorithm from </a:t>
            </a:r>
            <a:r>
              <a:rPr lang="en-US" sz="3400" b="1" dirty="0" err="1">
                <a:solidFill>
                  <a:srgbClr val="FF0000"/>
                </a:solidFill>
              </a:rPr>
              <a:t>Sklearn</a:t>
            </a:r>
            <a:r>
              <a:rPr lang="en-US" sz="3400" b="1" dirty="0">
                <a:solidFill>
                  <a:srgbClr val="FF0000"/>
                </a:solidFill>
              </a:rPr>
              <a:t> using IRIS dataset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762000" y="1600201"/>
            <a:ext cx="82296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200" dirty="0">
                <a:solidFill>
                  <a:srgbClr val="000000"/>
                </a:solidFill>
                <a:latin typeface="URWPalladioL-Roma"/>
              </a:rPr>
              <a:t>Read complete IRIS data set in Python with all features and classes. Display dataset</a:t>
            </a:r>
            <a:r>
              <a:rPr lang="en-IN" sz="2800" b="0" i="0" u="none" strike="noStrike" baseline="0" dirty="0">
                <a:solidFill>
                  <a:srgbClr val="000000"/>
                </a:solidFill>
                <a:latin typeface="URWPalladioL-Roma"/>
              </a:rPr>
              <a:t>.</a:t>
            </a:r>
          </a:p>
          <a:p>
            <a:pPr algn="just"/>
            <a:r>
              <a:rPr lang="en-US" sz="3300" dirty="0">
                <a:solidFill>
                  <a:srgbClr val="000000"/>
                </a:solidFill>
                <a:latin typeface="URWPalladioL-Roma"/>
              </a:rPr>
              <a:t>Use Standard scalar to standardize the dataset (mean = 0, variance = 1) as a preprocessing.</a:t>
            </a:r>
            <a:endParaRPr lang="en-IN" sz="3300" dirty="0">
              <a:solidFill>
                <a:srgbClr val="000000"/>
              </a:solidFill>
              <a:latin typeface="URWPalladioL-Roma"/>
            </a:endParaRP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Split the data set into training and testing parts. 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Train Decision Tree Classifier algorithm using inbuilt functions from </a:t>
            </a:r>
            <a:r>
              <a:rPr lang="en-IN" dirty="0" err="1">
                <a:solidFill>
                  <a:srgbClr val="000000"/>
                </a:solidFill>
                <a:latin typeface="URWPalladioL-Roma"/>
              </a:rPr>
              <a:t>Sklearn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Test the algorithms on testing data set.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Display trained tree and results of training and testing of algorithm.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Display performance matrix for both training and testing dataset: 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Classification Accuracy, Logarithmic loss, Area under Curve, F1 score (Precision, Recall), Confusion Matrix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Train Radom Forest Classifier algorithm using inbuilt functions from </a:t>
            </a:r>
            <a:r>
              <a:rPr lang="en-IN" dirty="0" err="1">
                <a:solidFill>
                  <a:srgbClr val="000000"/>
                </a:solidFill>
                <a:latin typeface="URWPalladioL-Roma"/>
              </a:rPr>
              <a:t>Sklearn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 w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ith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 500 trees each limited to maximum 16 nodes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Test the algorithm on testing data set.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Display performance matrix for both training and testing dataset: 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Classification Accuracy, Logarithmic loss, Area under Curve, F1 score (Precision, Recall), Confusion Matrix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Compare the performance with simple decision tree classifier algorithm with same training and testing dataset.</a:t>
            </a:r>
          </a:p>
          <a:p>
            <a:pPr algn="just"/>
            <a:endParaRPr lang="en-IN" dirty="0">
              <a:solidFill>
                <a:srgbClr val="000000"/>
              </a:solidFill>
              <a:latin typeface="URWPalladioL-Roma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929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55306"/>
            <a:ext cx="8839200" cy="639762"/>
          </a:xfrm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FF0000"/>
                </a:solidFill>
              </a:rPr>
              <a:t>(b) Train and Test Decision Tree Regression Algorithm from </a:t>
            </a:r>
            <a:r>
              <a:rPr lang="en-US" sz="3400" b="1" dirty="0" err="1">
                <a:solidFill>
                  <a:srgbClr val="FF0000"/>
                </a:solidFill>
              </a:rPr>
              <a:t>Sklearn</a:t>
            </a:r>
            <a:r>
              <a:rPr lang="en-US" sz="3400" b="1" dirty="0">
                <a:solidFill>
                  <a:srgbClr val="FF0000"/>
                </a:solidFill>
              </a:rPr>
              <a:t> using </a:t>
            </a:r>
            <a:r>
              <a:rPr lang="en-US" sz="3400" b="1" dirty="0" err="1">
                <a:solidFill>
                  <a:srgbClr val="FF0000"/>
                </a:solidFill>
              </a:rPr>
              <a:t>make_regression</a:t>
            </a:r>
            <a:r>
              <a:rPr lang="en-US" sz="3400" b="1" dirty="0">
                <a:solidFill>
                  <a:srgbClr val="FF0000"/>
                </a:solidFill>
              </a:rPr>
              <a:t> dataset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685800" y="1828509"/>
            <a:ext cx="8229600" cy="489296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Generate random data points (x</a:t>
            </a:r>
            <a:r>
              <a:rPr lang="en-IN" sz="3200" b="0" i="0" u="none" strike="noStrike" baseline="-25000" dirty="0">
                <a:solidFill>
                  <a:srgbClr val="000000"/>
                </a:solidFill>
                <a:latin typeface="URWPalladioL-Roma"/>
              </a:rPr>
              <a:t>i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, </a:t>
            </a:r>
            <a:r>
              <a:rPr lang="en-IN" sz="3200" b="0" i="0" u="none" strike="noStrike" baseline="0" dirty="0" err="1">
                <a:solidFill>
                  <a:srgbClr val="000000"/>
                </a:solidFill>
                <a:latin typeface="URWPalladioL-Roma"/>
              </a:rPr>
              <a:t>y</a:t>
            </a:r>
            <a:r>
              <a:rPr lang="en-IN" sz="3200" b="0" i="0" u="none" strike="noStrike" baseline="-25000" dirty="0" err="1">
                <a:solidFill>
                  <a:srgbClr val="000000"/>
                </a:solidFill>
                <a:latin typeface="URWPalladioL-Roma"/>
              </a:rPr>
              <a:t>i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); </a:t>
            </a:r>
            <a:r>
              <a:rPr lang="en-IN" sz="3200" b="0" i="1" u="none" strike="noStrike" baseline="0" dirty="0" err="1">
                <a:solidFill>
                  <a:srgbClr val="000000"/>
                </a:solidFill>
                <a:latin typeface="URWPalladioL-Roma"/>
              </a:rPr>
              <a:t>i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 =1,2,3,….,150; using </a:t>
            </a:r>
            <a:r>
              <a:rPr lang="en-IN" sz="3200" b="0" i="0" u="none" strike="noStrike" baseline="0" dirty="0" err="1">
                <a:solidFill>
                  <a:srgbClr val="000000"/>
                </a:solidFill>
                <a:latin typeface="URWPalladioL-Roma"/>
              </a:rPr>
              <a:t>make_regression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 dataset.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 Scale x in range of [-10,10] and y in range of [-5,5] using minmax scalar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.  Display overall dataset.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Split the data set into training and testing parts. 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URWPalladioL-Roma"/>
              </a:rPr>
              <a:t>Display Training and Testing dataset.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Train Decision Tree Regression algorithm using inbuilt functions from </a:t>
            </a:r>
            <a:r>
              <a:rPr lang="en-IN" dirty="0" err="1">
                <a:solidFill>
                  <a:srgbClr val="000000"/>
                </a:solidFill>
                <a:latin typeface="URWPalladioL-Roma"/>
              </a:rPr>
              <a:t>Sklearn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Test the algorithms on testing data set.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Display trained tree and results of training and testing of algorithm.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Display Performance Measure Matrix on both training and testing dataset: 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Mean Absolute Error (MAE), Mean Squared Error (MSE), R-squared (R²) Score, Root Mean Squared Error (RMSE)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 for training and testing.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Train Radom Forest Regressor algorithm using inbuilt functions from </a:t>
            </a:r>
            <a:r>
              <a:rPr lang="en-IN" dirty="0" err="1">
                <a:solidFill>
                  <a:srgbClr val="000000"/>
                </a:solidFill>
                <a:latin typeface="URWPalladioL-Roma"/>
              </a:rPr>
              <a:t>Sklearn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 w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ith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 500 trees each limited to maximum 16 nodes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Test the algorithm on testing data set.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Display performance matrix for both training and testing dataset: 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Mean Absolute Error (MAE), Mean Squared Error (MSE), Root Mean Squared Error (RMSE), R-squared (R²) Score</a:t>
            </a:r>
            <a:r>
              <a:rPr lang="en-IN" dirty="0">
                <a:solidFill>
                  <a:srgbClr val="000000"/>
                </a:solidFill>
                <a:latin typeface="URWPalladioL-Roma"/>
              </a:rPr>
              <a:t> for training and testing.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URWPalladioL-Roma"/>
              </a:rPr>
              <a:t>Compare the performance with simple decision tree regressor algorithm with same training and testing dataset.</a:t>
            </a:r>
          </a:p>
          <a:p>
            <a:pPr algn="just"/>
            <a:endParaRPr lang="en-IN" dirty="0">
              <a:solidFill>
                <a:srgbClr val="000000"/>
              </a:solidFill>
              <a:latin typeface="URWPalladioL-Roma"/>
            </a:endParaRPr>
          </a:p>
          <a:p>
            <a:pPr algn="just"/>
            <a:endParaRPr lang="en-IN" dirty="0">
              <a:solidFill>
                <a:srgbClr val="000000"/>
              </a:solidFill>
              <a:latin typeface="URWPalladioL-Roma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464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851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Python 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About performance matrix </a:t>
            </a:r>
            <a:r>
              <a:rPr lang="en-IN"/>
              <a:t>for Regression (</a:t>
            </a:r>
            <a:r>
              <a:rPr lang="en-IN" dirty="0"/>
              <a:t>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4130E8-3134-48A8-ADF6-D7B5EDFDA18C}"/>
</file>

<file path=customXml/itemProps2.xml><?xml version="1.0" encoding="utf-8"?>
<ds:datastoreItem xmlns:ds="http://schemas.openxmlformats.org/officeDocument/2006/customXml" ds:itemID="{6D8D8124-7D91-4929-B646-BBA127860C2E}"/>
</file>

<file path=customXml/itemProps3.xml><?xml version="1.0" encoding="utf-8"?>
<ds:datastoreItem xmlns:ds="http://schemas.openxmlformats.org/officeDocument/2006/customXml" ds:itemID="{9214A9BC-7359-4AC7-BB8D-41CDF810E7C1}"/>
</file>

<file path=docProps/app.xml><?xml version="1.0" encoding="utf-8"?>
<Properties xmlns="http://schemas.openxmlformats.org/officeDocument/2006/extended-properties" xmlns:vt="http://schemas.openxmlformats.org/officeDocument/2006/docPropsVTypes">
  <TotalTime>5340</TotalTime>
  <Words>676</Words>
  <Application>Microsoft Office PowerPoint</Application>
  <PresentationFormat>On-screen Show (4:3)</PresentationFormat>
  <Paragraphs>77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Consolas</vt:lpstr>
      <vt:lpstr>IBM Plex Mono</vt:lpstr>
      <vt:lpstr>IBM Plex Sans</vt:lpstr>
      <vt:lpstr>MinionPro-It</vt:lpstr>
      <vt:lpstr>MinionPro-Regular</vt:lpstr>
      <vt:lpstr>Tahoma</vt:lpstr>
      <vt:lpstr>URWPalladioL-Bold</vt:lpstr>
      <vt:lpstr>URWPalladioL-Roma</vt:lpstr>
      <vt:lpstr>Office Theme</vt:lpstr>
      <vt:lpstr>  Experiment 10:  Decision Tree and Random Forest Classification and Regression Algorithms</vt:lpstr>
      <vt:lpstr>Training Dataset from Sklearn Library</vt:lpstr>
      <vt:lpstr>IRIS Dataset</vt:lpstr>
      <vt:lpstr>(a) Train and Test Decision Tree Classification Algorithm from Sklearn using IRIS dataset</vt:lpstr>
      <vt:lpstr>(b) Train and Test Decision Tree Regression Algorithm from Sklearn using make_regression dataset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562</cp:revision>
  <dcterms:created xsi:type="dcterms:W3CDTF">2006-08-16T00:00:00Z</dcterms:created>
  <dcterms:modified xsi:type="dcterms:W3CDTF">2026-03-19T15:07:25Z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