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notesSlides/notesSlide1.xml" ContentType="application/vnd.openxmlformats-officedocument.presentationml.notesSlide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6" r:id="rId2"/>
    <p:sldId id="257" r:id="rId3"/>
    <p:sldId id="459" r:id="rId4"/>
    <p:sldId id="458" r:id="rId5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347" autoAdjust="0"/>
    <p:restoredTop sz="78305" autoAdjust="0"/>
  </p:normalViewPr>
  <p:slideViewPr>
    <p:cSldViewPr>
      <p:cViewPr varScale="1">
        <p:scale>
          <a:sx n="71" d="100"/>
          <a:sy n="71" d="100"/>
        </p:scale>
        <p:origin x="1632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13" Type="http://schemas.openxmlformats.org/officeDocument/2006/relationships/customXml" Target="../customXml/item3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12" Type="http://schemas.openxmlformats.org/officeDocument/2006/relationships/customXml" Target="../customXml/item2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customXml" Target="../customXml/item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5F9673B-F029-4EB6-981F-6118A75E367B}" type="datetimeFigureOut">
              <a:rPr lang="en-US" smtClean="0"/>
              <a:pPr/>
              <a:t>7/15/2025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B1F8E48-716F-463C-9A2D-BA57804D2BAF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8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3488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A62F1F-95C1-45CA-84F0-B138AAEBAF81}" type="datetime1">
              <a:rPr lang="en-IN" smtClean="0"/>
              <a:t>15-07-2025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Jigar Shah  (Asst. Prof., ICT, PDEU, Gandhinagar)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ABDB27-ED5A-4E0B-8784-15C769C9A57F}" type="datetime1">
              <a:rPr lang="en-IN" smtClean="0"/>
              <a:t>15-07-2025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Jigar Shah  (Asst. Prof., ICT, PDEU, Gandhinagar)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C760D6-FD85-46FC-B621-90CF24064286}" type="datetime1">
              <a:rPr lang="en-IN" smtClean="0"/>
              <a:t>15-07-2025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Jigar Shah  (Asst. Prof., ICT, PDEU, Gandhinagar)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FD685E-EC22-4A30-9C5A-5527B3C4452F}" type="datetime1">
              <a:rPr lang="en-IN" smtClean="0"/>
              <a:t>15-07-2025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Jigar Shah  (Asst. Prof., ICT, PDEU, Gandhinagar)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8AA1E3-69D8-4A03-B392-4B3DA43B89F5}" type="datetime1">
              <a:rPr lang="en-IN" smtClean="0"/>
              <a:t>15-07-2025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Jigar Shah  (Asst. Prof., ICT, PDEU, Gandhinagar)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E0FA67-6AED-47ED-98CB-817068A34CDD}" type="datetime1">
              <a:rPr lang="en-IN" smtClean="0"/>
              <a:t>15-07-2025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Jigar Shah  (Asst. Prof., ICT, PDEU, Gandhinagar)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EBA68-83D6-4A7C-9443-03C3BAB145F5}" type="datetime1">
              <a:rPr lang="en-IN" smtClean="0"/>
              <a:t>15-07-2025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Jigar Shah  (Asst. Prof., ICT, PDEU, Gandhinagar)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2F257B-BAD3-4E20-B0B4-3EA4E039C483}" type="datetime1">
              <a:rPr lang="en-IN" smtClean="0"/>
              <a:t>15-07-2025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Jigar Shah  (Asst. Prof., ICT, PDEU, Gandhinagar)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A41437-D38A-47BA-AECD-4B3F5E59E416}" type="datetime1">
              <a:rPr lang="en-IN" smtClean="0"/>
              <a:t>15-07-2025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Jigar Shah  (Asst. Prof., ICT, PDEU, Gandhinagar)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8AACA0-1FF6-43FE-9E2F-4E13179A1744}" type="datetime1">
              <a:rPr lang="en-IN" smtClean="0"/>
              <a:t>15-07-2025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Jigar Shah  (Asst. Prof., ICT, PDEU, Gandhinagar)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7FCC08-E355-4133-96C3-E543032B013A}" type="datetime1">
              <a:rPr lang="en-IN" smtClean="0"/>
              <a:t>15-07-2025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Jigar Shah  (Asst. Prof., ICT, PDEU, Gandhinagar)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854" name="Rectangle 1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990600" y="6248400"/>
            <a:ext cx="1905000" cy="45720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>
              <a:defRPr sz="1400">
                <a:solidFill>
                  <a:schemeClr val="bg2"/>
                </a:solidFill>
              </a:defRPr>
            </a:lvl1pPr>
          </a:lstStyle>
          <a:p>
            <a:fld id="{9034A2FE-D172-435F-AA4B-518E3133ACED}" type="datetime1">
              <a:rPr lang="en-IN" smtClean="0"/>
              <a:t>15-07-2025</a:t>
            </a:fld>
            <a:endParaRPr lang="en-US"/>
          </a:p>
        </p:txBody>
      </p:sp>
      <p:sp>
        <p:nvSpPr>
          <p:cNvPr id="291855" name="Rectangle 1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429000" y="6248400"/>
            <a:ext cx="2895600" cy="45720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400">
                <a:solidFill>
                  <a:schemeClr val="bg2"/>
                </a:solidFill>
              </a:defRPr>
            </a:lvl1pPr>
          </a:lstStyle>
          <a:p>
            <a:r>
              <a:rPr lang="en-US"/>
              <a:t>Dr. Jigar Shah  (Asst. Prof., ICT, PDEU, Gandhinagar)</a:t>
            </a:r>
          </a:p>
        </p:txBody>
      </p:sp>
      <p:sp>
        <p:nvSpPr>
          <p:cNvPr id="291856" name="Rectangle 16"/>
          <p:cNvSpPr>
            <a:spLocks noGrp="1" noChangeArrowheads="1"/>
          </p:cNvSpPr>
          <p:nvPr>
            <p:ph type="sldNum" sz="quarter" idx="4"/>
          </p:nvPr>
        </p:nvSpPr>
        <p:spPr>
          <a:xfrm>
            <a:off x="6858000" y="6248400"/>
            <a:ext cx="1905000" cy="457200"/>
          </a:xfrm>
        </p:spPr>
        <p:txBody>
          <a:bodyPr/>
          <a:lstStyle>
            <a:lvl1pPr>
              <a:defRPr sz="1400">
                <a:solidFill>
                  <a:schemeClr val="bg2"/>
                </a:solidFill>
                <a:latin typeface="Tahoma" pitchFamily="34" charset="0"/>
              </a:defRPr>
            </a:lvl1pPr>
          </a:lstStyle>
          <a:p>
            <a:fld id="{34829615-EA85-47CB-9745-0124BEE5BE2A}" type="slidenum">
              <a:rPr lang="en-US"/>
              <a:pPr/>
              <a:t>‹#›</a:t>
            </a:fld>
            <a:endParaRPr lang="en-US"/>
          </a:p>
        </p:txBody>
      </p:sp>
      <p:sp>
        <p:nvSpPr>
          <p:cNvPr id="291859" name="Rectangle 19"/>
          <p:cNvSpPr>
            <a:spLocks noChangeArrowheads="1"/>
          </p:cNvSpPr>
          <p:nvPr userDrawn="1"/>
        </p:nvSpPr>
        <p:spPr bwMode="gray">
          <a:xfrm>
            <a:off x="114300" y="2830513"/>
            <a:ext cx="8890000" cy="42862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kumimoji="1" lang="en-US" sz="2400"/>
          </a:p>
        </p:txBody>
      </p:sp>
      <p:sp>
        <p:nvSpPr>
          <p:cNvPr id="291860" name="Rectangle 20"/>
          <p:cNvSpPr>
            <a:spLocks noChangeArrowheads="1"/>
          </p:cNvSpPr>
          <p:nvPr userDrawn="1"/>
        </p:nvSpPr>
        <p:spPr bwMode="gray">
          <a:xfrm>
            <a:off x="122238" y="4167188"/>
            <a:ext cx="8890000" cy="42862"/>
          </a:xfrm>
          <a:prstGeom prst="rect">
            <a:avLst/>
          </a:prstGeom>
          <a:gradFill rotWithShape="1">
            <a:gsLst>
              <a:gs pos="0">
                <a:schemeClr val="accent2"/>
              </a:gs>
              <a:gs pos="100000">
                <a:schemeClr val="hlink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kumimoji="1" lang="en-US" sz="240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A2ADB42-1EA6-48BD-91C6-255795457A8A}" type="datetime1">
              <a:rPr lang="en-IN" smtClean="0"/>
              <a:t>15-07-2025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Dr. Jigar Shah  (Asst. Prof., ICT, PDEU, Gandhinagar)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hdr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3858" name="Rectangle 2"/>
          <p:cNvSpPr>
            <a:spLocks noGrp="1" noChangeArrowheads="1"/>
          </p:cNvSpPr>
          <p:nvPr>
            <p:ph type="ctrTitle" idx="4294967295"/>
          </p:nvPr>
        </p:nvSpPr>
        <p:spPr bwMode="auto">
          <a:xfrm>
            <a:off x="1111250" y="3145414"/>
            <a:ext cx="6921500" cy="1121786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anchor="b">
            <a:normAutofit fontScale="90000"/>
          </a:bodyPr>
          <a:lstStyle/>
          <a:p>
            <a:pPr algn="ctr"/>
            <a:r>
              <a:rPr lang="en-US" sz="3600" dirty="0"/>
              <a:t> </a:t>
            </a:r>
            <a:br>
              <a:rPr lang="en-US" sz="3600" dirty="0"/>
            </a:br>
            <a:r>
              <a:rPr lang="en-US" sz="3600" dirty="0"/>
              <a:t>Experiment 5: </a:t>
            </a:r>
            <a:br>
              <a:rPr lang="en-US" sz="3600" dirty="0"/>
            </a:br>
            <a:r>
              <a:rPr lang="en-IN" sz="3600" dirty="0"/>
              <a:t>Binary Classification: MCE and Logistic </a:t>
            </a:r>
            <a:r>
              <a:rPr lang="en-IN" sz="3600"/>
              <a:t>Regression Algorithms</a:t>
            </a:r>
            <a:endParaRPr lang="en-US" sz="3600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2E4ABEA-BDC3-2120-8281-B22F09EFA2CE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BE8810AA-E5FB-460E-942C-C27A9A3AE343}" type="datetime1">
              <a:rPr lang="en-IN" smtClean="0"/>
              <a:t>15-07-2025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CA8607D-C84B-CCA0-EA1A-4A2C48DEE62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166938" y="4495800"/>
            <a:ext cx="4919662" cy="1121786"/>
          </a:xfrm>
        </p:spPr>
        <p:txBody>
          <a:bodyPr/>
          <a:lstStyle/>
          <a:p>
            <a:r>
              <a:rPr lang="en-US" dirty="0">
                <a:solidFill>
                  <a:srgbClr val="FF0000"/>
                </a:solidFill>
              </a:rPr>
              <a:t>Dr. Jigar Shah</a:t>
            </a:r>
          </a:p>
          <a:p>
            <a:r>
              <a:rPr lang="en-US" dirty="0">
                <a:solidFill>
                  <a:srgbClr val="FF0000"/>
                </a:solidFill>
              </a:rPr>
              <a:t> (Asst. Prof., ICT, PDEU, Gandhinagar)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CEEC276-6BC7-413A-A5B4-111DE223033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4829615-EA85-47CB-9745-0124BEE5BE2A}" type="slidenum">
              <a:rPr lang="en-US" smtClean="0"/>
              <a:pPr/>
              <a:t>1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82A28BB-0490-8F52-656F-F58CA031F6CF}"/>
              </a:ext>
            </a:extLst>
          </p:cNvPr>
          <p:cNvSpPr txBox="1"/>
          <p:nvPr/>
        </p:nvSpPr>
        <p:spPr>
          <a:xfrm>
            <a:off x="381000" y="920524"/>
            <a:ext cx="8763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200" dirty="0">
                <a:solidFill>
                  <a:srgbClr val="FF0000"/>
                </a:solidFill>
              </a:rPr>
              <a:t>MACHINE LEARNING AND APPLICATIONS LAB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A685A48-2DDE-6ACA-3346-DAC0DB8CE44D}"/>
              </a:ext>
            </a:extLst>
          </p:cNvPr>
          <p:cNvSpPr txBox="1"/>
          <p:nvPr/>
        </p:nvSpPr>
        <p:spPr>
          <a:xfrm>
            <a:off x="3657600" y="1941901"/>
            <a:ext cx="16420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EC - Semester 5</a:t>
            </a:r>
          </a:p>
        </p:txBody>
      </p:sp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9154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solidFill>
                  <a:srgbClr val="FF0000"/>
                </a:solidFill>
              </a:rPr>
              <a:t>Training Dataset from </a:t>
            </a:r>
            <a:r>
              <a:rPr lang="en-US" dirty="0" err="1">
                <a:solidFill>
                  <a:srgbClr val="FF0000"/>
                </a:solidFill>
              </a:rPr>
              <a:t>Sklearn</a:t>
            </a:r>
            <a:r>
              <a:rPr lang="en-US" dirty="0">
                <a:solidFill>
                  <a:srgbClr val="FF0000"/>
                </a:solidFill>
              </a:rPr>
              <a:t> Library</a:t>
            </a:r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204047B2-35A5-A859-2942-A8A0A30472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3400" y="1404191"/>
            <a:ext cx="8229600" cy="4756150"/>
          </a:xfrm>
        </p:spPr>
        <p:txBody>
          <a:bodyPr>
            <a:normAutofit fontScale="77500" lnSpcReduction="20000"/>
          </a:bodyPr>
          <a:lstStyle/>
          <a:p>
            <a:pPr algn="l"/>
            <a:r>
              <a:rPr lang="en-IN" sz="2000" b="1" i="0" dirty="0">
                <a:solidFill>
                  <a:srgbClr val="3C3C3B"/>
                </a:solidFill>
                <a:effectLst/>
                <a:latin typeface="IBM Plex Mono" panose="020B0509050203000203" pitchFamily="49" charset="0"/>
              </a:rPr>
              <a:t>Complete List of Datasets in the </a:t>
            </a:r>
            <a:r>
              <a:rPr lang="en-IN" sz="2000" b="1" i="0" dirty="0" err="1">
                <a:solidFill>
                  <a:srgbClr val="3C3C3B"/>
                </a:solidFill>
                <a:effectLst/>
                <a:latin typeface="IBM Plex Mono" panose="020B0509050203000203" pitchFamily="49" charset="0"/>
              </a:rPr>
              <a:t>Sklearn</a:t>
            </a:r>
            <a:r>
              <a:rPr lang="en-IN" sz="2000" b="1" i="0" dirty="0">
                <a:solidFill>
                  <a:srgbClr val="3C3C3B"/>
                </a:solidFill>
                <a:effectLst/>
                <a:latin typeface="IBM Plex Mono" panose="020B0509050203000203" pitchFamily="49" charset="0"/>
              </a:rPr>
              <a:t> Library</a:t>
            </a:r>
          </a:p>
          <a:p>
            <a:pPr algn="l">
              <a:buFont typeface="+mj-lt"/>
              <a:buAutoNum type="arabicPeriod"/>
            </a:pPr>
            <a:r>
              <a:rPr lang="en-IN" sz="2000" b="0" i="0" dirty="0">
                <a:solidFill>
                  <a:srgbClr val="3C3C3B"/>
                </a:solidFill>
                <a:effectLst/>
                <a:latin typeface="IBM Plex Sans" panose="020B0503050203000203" pitchFamily="34" charset="0"/>
              </a:rPr>
              <a:t>Iris</a:t>
            </a:r>
          </a:p>
          <a:p>
            <a:pPr>
              <a:buFont typeface="+mj-lt"/>
              <a:buAutoNum type="arabicPeriod"/>
            </a:pPr>
            <a:r>
              <a:rPr lang="en-IN" sz="2100" dirty="0">
                <a:solidFill>
                  <a:srgbClr val="3C3C3B"/>
                </a:solidFill>
                <a:latin typeface="IBM Plex Sans" panose="020B0503050203000203" pitchFamily="34" charset="0"/>
              </a:rPr>
              <a:t>Diabetes</a:t>
            </a:r>
          </a:p>
          <a:p>
            <a:pPr>
              <a:buFont typeface="+mj-lt"/>
              <a:buAutoNum type="arabicPeriod"/>
            </a:pPr>
            <a:r>
              <a:rPr lang="en-IN" sz="2100" dirty="0">
                <a:solidFill>
                  <a:srgbClr val="3C3C3B"/>
                </a:solidFill>
                <a:latin typeface="IBM Plex Sans" panose="020B0503050203000203" pitchFamily="34" charset="0"/>
              </a:rPr>
              <a:t>Digits</a:t>
            </a:r>
          </a:p>
          <a:p>
            <a:pPr>
              <a:buFont typeface="+mj-lt"/>
              <a:buAutoNum type="arabicPeriod"/>
            </a:pPr>
            <a:r>
              <a:rPr lang="en-IN" sz="2100" dirty="0" err="1">
                <a:solidFill>
                  <a:srgbClr val="3C3C3B"/>
                </a:solidFill>
                <a:latin typeface="IBM Plex Sans" panose="020B0503050203000203" pitchFamily="34" charset="0"/>
              </a:rPr>
              <a:t>Linnerud</a:t>
            </a:r>
            <a:endParaRPr lang="en-IN" sz="2100" dirty="0">
              <a:solidFill>
                <a:srgbClr val="3C3C3B"/>
              </a:solidFill>
              <a:latin typeface="IBM Plex Sans" panose="020B0503050203000203" pitchFamily="34" charset="0"/>
            </a:endParaRPr>
          </a:p>
          <a:p>
            <a:pPr>
              <a:buFont typeface="+mj-lt"/>
              <a:buAutoNum type="arabicPeriod"/>
            </a:pPr>
            <a:r>
              <a:rPr lang="en-IN" sz="2100" dirty="0">
                <a:solidFill>
                  <a:srgbClr val="3C3C3B"/>
                </a:solidFill>
                <a:latin typeface="IBM Plex Sans" panose="020B0503050203000203" pitchFamily="34" charset="0"/>
              </a:rPr>
              <a:t>Wine</a:t>
            </a:r>
          </a:p>
          <a:p>
            <a:pPr>
              <a:buFont typeface="+mj-lt"/>
              <a:buAutoNum type="arabicPeriod"/>
            </a:pPr>
            <a:r>
              <a:rPr lang="en-IN" sz="2100" dirty="0">
                <a:solidFill>
                  <a:srgbClr val="3C3C3B"/>
                </a:solidFill>
                <a:latin typeface="IBM Plex Sans" panose="020B0503050203000203" pitchFamily="34" charset="0"/>
              </a:rPr>
              <a:t>Breast Cancer Wisconsin</a:t>
            </a:r>
          </a:p>
          <a:p>
            <a:pPr>
              <a:buFont typeface="+mj-lt"/>
              <a:buAutoNum type="arabicPeriod"/>
            </a:pPr>
            <a:r>
              <a:rPr lang="en-IN" sz="2100" dirty="0">
                <a:solidFill>
                  <a:srgbClr val="3C3C3B"/>
                </a:solidFill>
                <a:latin typeface="IBM Plex Sans" panose="020B0503050203000203" pitchFamily="34" charset="0"/>
              </a:rPr>
              <a:t>Boston Housing</a:t>
            </a:r>
          </a:p>
          <a:p>
            <a:pPr>
              <a:buFont typeface="+mj-lt"/>
              <a:buAutoNum type="arabicPeriod"/>
            </a:pPr>
            <a:r>
              <a:rPr lang="en-IN" sz="2100" dirty="0">
                <a:solidFill>
                  <a:srgbClr val="3C3C3B"/>
                </a:solidFill>
                <a:latin typeface="IBM Plex Sans" panose="020B0503050203000203" pitchFamily="34" charset="0"/>
              </a:rPr>
              <a:t>Olivetti Faces</a:t>
            </a:r>
          </a:p>
          <a:p>
            <a:pPr>
              <a:buFont typeface="+mj-lt"/>
              <a:buAutoNum type="arabicPeriod"/>
            </a:pPr>
            <a:r>
              <a:rPr lang="en-IN" sz="2100" dirty="0">
                <a:solidFill>
                  <a:srgbClr val="3C3C3B"/>
                </a:solidFill>
                <a:latin typeface="IBM Plex Sans" panose="020B0503050203000203" pitchFamily="34" charset="0"/>
              </a:rPr>
              <a:t>California Housing</a:t>
            </a:r>
          </a:p>
          <a:p>
            <a:pPr>
              <a:buFont typeface="+mj-lt"/>
              <a:buAutoNum type="arabicPeriod"/>
            </a:pPr>
            <a:r>
              <a:rPr lang="en-IN" sz="2100" dirty="0">
                <a:solidFill>
                  <a:srgbClr val="3C3C3B"/>
                </a:solidFill>
                <a:latin typeface="IBM Plex Sans" panose="020B0503050203000203" pitchFamily="34" charset="0"/>
              </a:rPr>
              <a:t>MNIST</a:t>
            </a:r>
          </a:p>
          <a:p>
            <a:pPr>
              <a:buFont typeface="+mj-lt"/>
              <a:buAutoNum type="arabicPeriod"/>
            </a:pPr>
            <a:r>
              <a:rPr lang="en-IN" sz="2100" dirty="0">
                <a:solidFill>
                  <a:srgbClr val="3C3C3B"/>
                </a:solidFill>
                <a:latin typeface="IBM Plex Sans" panose="020B0503050203000203" pitchFamily="34" charset="0"/>
              </a:rPr>
              <a:t>Fashion-MNIST</a:t>
            </a:r>
          </a:p>
          <a:p>
            <a:pPr>
              <a:buFont typeface="+mj-lt"/>
              <a:buAutoNum type="arabicPeriod"/>
            </a:pPr>
            <a:r>
              <a:rPr lang="en-IN" sz="2100" b="1" dirty="0" err="1">
                <a:solidFill>
                  <a:srgbClr val="3C3C3B"/>
                </a:solidFill>
                <a:latin typeface="IBM Plex Sans" panose="020B0503050203000203" pitchFamily="34" charset="0"/>
              </a:rPr>
              <a:t>make_classification</a:t>
            </a:r>
            <a:endParaRPr lang="en-IN" sz="2100" b="1" dirty="0">
              <a:solidFill>
                <a:srgbClr val="3C3C3B"/>
              </a:solidFill>
              <a:latin typeface="IBM Plex Sans" panose="020B0503050203000203" pitchFamily="34" charset="0"/>
            </a:endParaRPr>
          </a:p>
          <a:p>
            <a:pPr>
              <a:buFont typeface="+mj-lt"/>
              <a:buAutoNum type="arabicPeriod"/>
            </a:pPr>
            <a:r>
              <a:rPr lang="en-IN" sz="2100" dirty="0" err="1">
                <a:solidFill>
                  <a:srgbClr val="3C3C3B"/>
                </a:solidFill>
                <a:latin typeface="IBM Plex Sans" panose="020B0503050203000203" pitchFamily="34" charset="0"/>
              </a:rPr>
              <a:t>make_regression</a:t>
            </a:r>
            <a:endParaRPr lang="en-IN" sz="2100" dirty="0">
              <a:solidFill>
                <a:srgbClr val="3C3C3B"/>
              </a:solidFill>
              <a:latin typeface="IBM Plex Sans" panose="020B0503050203000203" pitchFamily="34" charset="0"/>
            </a:endParaRPr>
          </a:p>
          <a:p>
            <a:pPr>
              <a:buFont typeface="+mj-lt"/>
              <a:buAutoNum type="arabicPeriod"/>
            </a:pPr>
            <a:r>
              <a:rPr lang="en-IN" sz="2100" dirty="0" err="1">
                <a:solidFill>
                  <a:srgbClr val="3C3C3B"/>
                </a:solidFill>
                <a:latin typeface="IBM Plex Sans" panose="020B0503050203000203" pitchFamily="34" charset="0"/>
              </a:rPr>
              <a:t>make_blobs</a:t>
            </a:r>
            <a:endParaRPr lang="en-IN" sz="2100" dirty="0">
              <a:solidFill>
                <a:srgbClr val="3C3C3B"/>
              </a:solidFill>
              <a:latin typeface="IBM Plex Sans" panose="020B0503050203000203" pitchFamily="34" charset="0"/>
            </a:endParaRPr>
          </a:p>
          <a:p>
            <a:pPr>
              <a:buFont typeface="+mj-lt"/>
              <a:buAutoNum type="arabicPeriod"/>
            </a:pPr>
            <a:r>
              <a:rPr lang="en-IN" sz="2100" dirty="0" err="1">
                <a:solidFill>
                  <a:srgbClr val="3C3C3B"/>
                </a:solidFill>
                <a:latin typeface="IBM Plex Sans" panose="020B0503050203000203" pitchFamily="34" charset="0"/>
              </a:rPr>
              <a:t>make_moons</a:t>
            </a:r>
            <a:r>
              <a:rPr lang="en-IN" sz="2100" dirty="0">
                <a:solidFill>
                  <a:srgbClr val="3C3C3B"/>
                </a:solidFill>
                <a:latin typeface="IBM Plex Sans" panose="020B0503050203000203" pitchFamily="34" charset="0"/>
              </a:rPr>
              <a:t> and </a:t>
            </a:r>
            <a:r>
              <a:rPr lang="en-IN" sz="2100" dirty="0" err="1">
                <a:solidFill>
                  <a:srgbClr val="3C3C3B"/>
                </a:solidFill>
                <a:latin typeface="IBM Plex Sans" panose="020B0503050203000203" pitchFamily="34" charset="0"/>
              </a:rPr>
              <a:t>make_circles</a:t>
            </a:r>
            <a:endParaRPr lang="en-IN" sz="2100" dirty="0">
              <a:solidFill>
                <a:srgbClr val="3C3C3B"/>
              </a:solidFill>
              <a:latin typeface="IBM Plex Sans" panose="020B0503050203000203" pitchFamily="34" charset="0"/>
            </a:endParaRPr>
          </a:p>
          <a:p>
            <a:pPr>
              <a:buFont typeface="+mj-lt"/>
              <a:buAutoNum type="arabicPeriod"/>
            </a:pPr>
            <a:r>
              <a:rPr lang="en-IN" sz="2100" dirty="0" err="1">
                <a:solidFill>
                  <a:srgbClr val="3C3C3B"/>
                </a:solidFill>
                <a:latin typeface="IBM Plex Sans" panose="020B0503050203000203" pitchFamily="34" charset="0"/>
              </a:rPr>
              <a:t>Make_sparse_coded_signal</a:t>
            </a:r>
            <a:endParaRPr lang="en-IN" sz="2100" dirty="0">
              <a:solidFill>
                <a:srgbClr val="3C3C3B"/>
              </a:solidFill>
              <a:latin typeface="IBM Plex Sans" panose="020B0503050203000203" pitchFamily="34" charset="0"/>
            </a:endParaRPr>
          </a:p>
          <a:p>
            <a:pPr marL="0" indent="0" algn="l">
              <a:buNone/>
            </a:pPr>
            <a:endParaRPr lang="en-US" sz="1200" dirty="0">
              <a:solidFill>
                <a:srgbClr val="708090"/>
              </a:solidFill>
              <a:latin typeface="Consolas" panose="020B0609020204030204" pitchFamily="49" charset="0"/>
            </a:endParaRPr>
          </a:p>
          <a:p>
            <a:pPr marL="0" indent="0" algn="l">
              <a:buNone/>
            </a:pPr>
            <a:r>
              <a:rPr lang="en-US" sz="3400" b="0" i="0" dirty="0"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 To install </a:t>
            </a:r>
            <a:r>
              <a:rPr lang="en-US" sz="3400" b="0" i="0" dirty="0" err="1"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sklearn</a:t>
            </a:r>
            <a:r>
              <a:rPr lang="en-US" sz="34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pip install scikit</a:t>
            </a:r>
            <a:r>
              <a:rPr lang="en-US" sz="3400" b="0" i="0" dirty="0">
                <a:solidFill>
                  <a:srgbClr val="9A6E3A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US" sz="34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learn</a:t>
            </a:r>
            <a:endParaRPr lang="en-IN" sz="5700" b="0" i="0" dirty="0">
              <a:solidFill>
                <a:srgbClr val="3C3C3B"/>
              </a:solidFill>
              <a:effectLst/>
              <a:latin typeface="IBM Plex Sans" panose="020B0503050203000203" pitchFamily="34" charset="0"/>
            </a:endParaRPr>
          </a:p>
          <a:p>
            <a:pPr lvl="2"/>
            <a:endParaRPr lang="en-IN" sz="2800" dirty="0">
              <a:solidFill>
                <a:schemeClr val="tx2">
                  <a:satMod val="130000"/>
                </a:schemeClr>
              </a:solidFill>
              <a:latin typeface="+mj-lt"/>
              <a:ea typeface="+mj-ea"/>
              <a:cs typeface="+mj-cs"/>
            </a:endParaRPr>
          </a:p>
          <a:p>
            <a:pPr marL="914400" lvl="2" indent="0">
              <a:buNone/>
            </a:pPr>
            <a:endParaRPr lang="en-IN" sz="2800" dirty="0">
              <a:solidFill>
                <a:schemeClr val="tx2">
                  <a:satMod val="130000"/>
                </a:schemeClr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02BAD23-5DCC-7352-4BBE-2156B72364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C3A368-42C6-443E-B0FE-E76D4816599A}" type="datetime1">
              <a:rPr lang="en-IN" smtClean="0"/>
              <a:t>15-07-2025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E71020B-AD85-4DFE-8C63-049E7CB43C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Jigar Shah  (Asst. Prof., ICT, PDEU, Gandhinagar)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7BF8170-1EFE-F0A4-FFA3-40BE439264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9154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76200"/>
            <a:ext cx="8229600" cy="639762"/>
          </a:xfrm>
        </p:spPr>
        <p:txBody>
          <a:bodyPr>
            <a:normAutofit fontScale="90000"/>
          </a:bodyPr>
          <a:lstStyle/>
          <a:p>
            <a:r>
              <a:rPr lang="en-US" dirty="0">
                <a:solidFill>
                  <a:srgbClr val="FF0000"/>
                </a:solidFill>
              </a:rPr>
              <a:t>Steps: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02BAD23-5DCC-7352-4BBE-2156B72364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C3A368-42C6-443E-B0FE-E76D4816599A}" type="datetime1">
              <a:rPr lang="en-IN" smtClean="0"/>
              <a:t>15-07-2025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E71020B-AD85-4DFE-8C63-049E7CB43C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Jigar Shah  (Asst. Prof., ICT, PDEU, Gandhinagar)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7BF8170-1EFE-F0A4-FFA3-40BE439264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</a:t>
            </a:fld>
            <a:endParaRPr lang="en-US"/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204047B2-35A5-A859-2942-A8A0A30472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671138"/>
            <a:ext cx="8229600" cy="6218238"/>
          </a:xfrm>
        </p:spPr>
        <p:txBody>
          <a:bodyPr>
            <a:normAutofit/>
          </a:bodyPr>
          <a:lstStyle/>
          <a:p>
            <a:pPr lvl="1"/>
            <a:endParaRPr lang="en-US" sz="2900" b="1" dirty="0">
              <a:latin typeface="URWPalladioL-Bold"/>
            </a:endParaRPr>
          </a:p>
          <a:p>
            <a:pPr lvl="1"/>
            <a:endParaRPr lang="en-US" sz="2900" b="1" dirty="0">
              <a:latin typeface="URWPalladioL-Bold"/>
            </a:endParaRPr>
          </a:p>
          <a:p>
            <a:pPr lvl="1"/>
            <a:endParaRPr lang="en-IN" baseline="30000" dirty="0"/>
          </a:p>
        </p:txBody>
      </p:sp>
      <p:sp>
        <p:nvSpPr>
          <p:cNvPr id="5" name="Content Placeholder 12">
            <a:extLst>
              <a:ext uri="{FF2B5EF4-FFF2-40B4-BE49-F238E27FC236}">
                <a16:creationId xmlns:a16="http://schemas.microsoft.com/office/drawing/2014/main" id="{199CCA18-1B38-98E7-F6FD-9C6AD99BCD40}"/>
              </a:ext>
            </a:extLst>
          </p:cNvPr>
          <p:cNvSpPr txBox="1">
            <a:spLocks/>
          </p:cNvSpPr>
          <p:nvPr/>
        </p:nvSpPr>
        <p:spPr>
          <a:xfrm>
            <a:off x="457200" y="838200"/>
            <a:ext cx="8229600" cy="5518150"/>
          </a:xfrm>
          <a:prstGeom prst="rect">
            <a:avLst/>
          </a:prstGeom>
        </p:spPr>
        <p:txBody>
          <a:bodyPr vert="horz" lIns="91440" tIns="45720" rIns="91440" bIns="45720" rtlCol="0">
            <a:normAutofit fontScale="55000" lnSpcReduction="200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/>
            <a:r>
              <a:rPr lang="en-IN" sz="3200" dirty="0">
                <a:solidFill>
                  <a:schemeClr val="tx2">
                    <a:satMod val="130000"/>
                  </a:schemeClr>
                </a:solidFill>
                <a:latin typeface="+mj-lt"/>
                <a:ea typeface="+mj-ea"/>
                <a:cs typeface="+mj-cs"/>
              </a:rPr>
              <a:t>Import </a:t>
            </a:r>
            <a:r>
              <a:rPr lang="en-IN" sz="3200" dirty="0" err="1">
                <a:solidFill>
                  <a:schemeClr val="tx2">
                    <a:satMod val="130000"/>
                  </a:schemeClr>
                </a:solidFill>
                <a:latin typeface="+mj-lt"/>
                <a:ea typeface="+mj-ea"/>
                <a:cs typeface="+mj-cs"/>
              </a:rPr>
              <a:t>make_classification</a:t>
            </a:r>
            <a:r>
              <a:rPr lang="en-IN" sz="3200" dirty="0">
                <a:solidFill>
                  <a:schemeClr val="tx2">
                    <a:satMod val="130000"/>
                  </a:schemeClr>
                </a:solidFill>
                <a:latin typeface="+mj-lt"/>
                <a:ea typeface="+mj-ea"/>
                <a:cs typeface="+mj-cs"/>
              </a:rPr>
              <a:t> dataset: 100 samples, 2 features and 2 classes</a:t>
            </a:r>
          </a:p>
          <a:p>
            <a:pPr lvl="1"/>
            <a:r>
              <a:rPr lang="en-IN" sz="3200" dirty="0">
                <a:solidFill>
                  <a:schemeClr val="tx2">
                    <a:satMod val="130000"/>
                  </a:schemeClr>
                </a:solidFill>
                <a:latin typeface="+mj-lt"/>
                <a:ea typeface="+mj-ea"/>
                <a:cs typeface="+mj-cs"/>
              </a:rPr>
              <a:t>Pre-process the dataset as per requirement of perceptron algorithm for binary classification problem</a:t>
            </a:r>
          </a:p>
          <a:p>
            <a:pPr lvl="1"/>
            <a:r>
              <a:rPr lang="en-IN" sz="3200" dirty="0">
                <a:solidFill>
                  <a:schemeClr val="tx2">
                    <a:satMod val="130000"/>
                  </a:schemeClr>
                </a:solidFill>
                <a:latin typeface="+mj-lt"/>
                <a:ea typeface="+mj-ea"/>
                <a:cs typeface="+mj-cs"/>
              </a:rPr>
              <a:t>Display overall dataset on 2-D space using scatter plot. (Use separate markers/colours for datapoints corresponds to two classes). Use proper legends.</a:t>
            </a:r>
          </a:p>
          <a:p>
            <a:pPr lvl="1"/>
            <a:r>
              <a:rPr lang="en-IN" sz="3200" dirty="0">
                <a:solidFill>
                  <a:schemeClr val="tx2">
                    <a:satMod val="130000"/>
                  </a:schemeClr>
                </a:solidFill>
                <a:latin typeface="+mj-lt"/>
                <a:ea typeface="+mj-ea"/>
                <a:cs typeface="+mj-cs"/>
              </a:rPr>
              <a:t>Split the data set into training (80%) and testing(20%) dataset</a:t>
            </a:r>
          </a:p>
          <a:p>
            <a:pPr lvl="1" algn="just"/>
            <a:r>
              <a:rPr lang="en-IN" sz="3200" dirty="0">
                <a:solidFill>
                  <a:schemeClr val="tx2">
                    <a:satMod val="130000"/>
                  </a:schemeClr>
                </a:solidFill>
                <a:latin typeface="+mj-lt"/>
                <a:ea typeface="+mj-ea"/>
                <a:cs typeface="+mj-cs"/>
              </a:rPr>
              <a:t>Initialize and Train </a:t>
            </a:r>
            <a:r>
              <a:rPr lang="en-IN" sz="3200" b="1" dirty="0">
                <a:solidFill>
                  <a:schemeClr val="tx2">
                    <a:satMod val="130000"/>
                  </a:schemeClr>
                </a:solidFill>
                <a:latin typeface="+mj-lt"/>
                <a:ea typeface="+mj-ea"/>
                <a:cs typeface="+mj-cs"/>
              </a:rPr>
              <a:t>MCE and Logistic Regression </a:t>
            </a:r>
            <a:r>
              <a:rPr lang="en-IN" sz="3200" dirty="0">
                <a:solidFill>
                  <a:schemeClr val="tx2">
                    <a:satMod val="130000"/>
                  </a:schemeClr>
                </a:solidFill>
                <a:latin typeface="+mj-lt"/>
                <a:ea typeface="+mj-ea"/>
                <a:cs typeface="+mj-cs"/>
              </a:rPr>
              <a:t>models using training dataset (Don’t use any library function for algorithm training and weight update; use the gradient function derived for both algorithms and gradient descent algorithm to update the weights)</a:t>
            </a:r>
          </a:p>
          <a:p>
            <a:pPr lvl="1" algn="just"/>
            <a:r>
              <a:rPr lang="en-IN" sz="3200" dirty="0">
                <a:solidFill>
                  <a:schemeClr val="tx2">
                    <a:satMod val="130000"/>
                  </a:schemeClr>
                </a:solidFill>
                <a:latin typeface="+mj-lt"/>
                <a:ea typeface="+mj-ea"/>
                <a:cs typeface="+mj-cs"/>
              </a:rPr>
              <a:t>Obtain number of mistakes made during training and final weight vector</a:t>
            </a:r>
          </a:p>
          <a:p>
            <a:pPr lvl="1" algn="just"/>
            <a:r>
              <a:rPr lang="en-IN" sz="3200" dirty="0">
                <a:solidFill>
                  <a:schemeClr val="tx2">
                    <a:satMod val="130000"/>
                  </a:schemeClr>
                </a:solidFill>
                <a:latin typeface="+mj-lt"/>
                <a:ea typeface="+mj-ea"/>
                <a:cs typeface="+mj-cs"/>
              </a:rPr>
              <a:t>Test the algorithm using testing dataset and obtain prediction</a:t>
            </a:r>
          </a:p>
          <a:p>
            <a:pPr lvl="1" algn="just"/>
            <a:r>
              <a:rPr lang="en-IN" sz="3200" dirty="0">
                <a:solidFill>
                  <a:schemeClr val="tx2">
                    <a:satMod val="130000"/>
                  </a:schemeClr>
                </a:solidFill>
                <a:latin typeface="+mj-lt"/>
                <a:ea typeface="+mj-ea"/>
                <a:cs typeface="+mj-cs"/>
              </a:rPr>
              <a:t>Find number of mis-classification errors made</a:t>
            </a:r>
          </a:p>
          <a:p>
            <a:pPr lvl="1" algn="just"/>
            <a:r>
              <a:rPr lang="en-IN" sz="3200" dirty="0">
                <a:solidFill>
                  <a:schemeClr val="tx2">
                    <a:satMod val="130000"/>
                  </a:schemeClr>
                </a:solidFill>
                <a:latin typeface="+mj-lt"/>
                <a:ea typeface="+mj-ea"/>
                <a:cs typeface="+mj-cs"/>
              </a:rPr>
              <a:t>Display accuracy score in %</a:t>
            </a:r>
          </a:p>
          <a:p>
            <a:pPr lvl="1"/>
            <a:r>
              <a:rPr lang="en-IN" sz="3200" dirty="0">
                <a:solidFill>
                  <a:schemeClr val="tx2">
                    <a:satMod val="130000"/>
                  </a:schemeClr>
                </a:solidFill>
                <a:latin typeface="+mj-lt"/>
                <a:ea typeface="+mj-ea"/>
                <a:cs typeface="+mj-cs"/>
              </a:rPr>
              <a:t>Display training data set, testing data set with true labels and testing data set with predicted labels on same scatter plot in 2-D space and plot the decision boundary on same. Use proper legends.</a:t>
            </a:r>
          </a:p>
          <a:p>
            <a:pPr lvl="1" algn="just"/>
            <a:r>
              <a:rPr lang="en-IN" sz="3200" dirty="0">
                <a:solidFill>
                  <a:schemeClr val="tx2">
                    <a:satMod val="130000"/>
                  </a:schemeClr>
                </a:solidFill>
                <a:latin typeface="+mj-lt"/>
                <a:ea typeface="+mj-ea"/>
                <a:cs typeface="+mj-cs"/>
              </a:rPr>
              <a:t>Create and display confusion matrix for these two binary classifiers</a:t>
            </a:r>
          </a:p>
          <a:p>
            <a:pPr lvl="1" algn="just"/>
            <a:endParaRPr lang="en-IN" sz="3200" dirty="0">
              <a:solidFill>
                <a:schemeClr val="tx2">
                  <a:satMod val="130000"/>
                </a:schemeClr>
              </a:solidFill>
              <a:latin typeface="+mj-lt"/>
              <a:ea typeface="+mj-ea"/>
              <a:cs typeface="+mj-cs"/>
            </a:endParaRPr>
          </a:p>
          <a:p>
            <a:pPr lvl="1" algn="just"/>
            <a:endParaRPr lang="en-IN" sz="3200" dirty="0">
              <a:solidFill>
                <a:schemeClr val="tx2">
                  <a:satMod val="130000"/>
                </a:schemeClr>
              </a:solidFill>
              <a:latin typeface="+mj-lt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20992911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037746-8414-7D59-08DC-16E7D14A75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96851"/>
            <a:ext cx="8229600" cy="868362"/>
          </a:xfrm>
        </p:spPr>
        <p:txBody>
          <a:bodyPr/>
          <a:lstStyle/>
          <a:p>
            <a:r>
              <a:rPr lang="en-US" dirty="0">
                <a:solidFill>
                  <a:srgbClr val="FF0000"/>
                </a:solidFill>
              </a:rPr>
              <a:t>Work Flow: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40C70D-C7B7-1CE0-2635-D231E485B6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295400"/>
            <a:ext cx="8229600" cy="4830763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IN" dirty="0"/>
              <a:t>Aim of Experiment (Handwritten)</a:t>
            </a:r>
          </a:p>
          <a:p>
            <a:pPr marL="514350" indent="-514350">
              <a:buFont typeface="+mj-lt"/>
              <a:buAutoNum type="arabicPeriod"/>
            </a:pPr>
            <a:r>
              <a:rPr lang="en-IN" dirty="0"/>
              <a:t>Python code with results and graphs (print)</a:t>
            </a:r>
          </a:p>
          <a:p>
            <a:pPr marL="514350" indent="-514350">
              <a:buFont typeface="+mj-lt"/>
              <a:buAutoNum type="arabicPeriod"/>
            </a:pPr>
            <a:r>
              <a:rPr lang="en-IN" dirty="0"/>
              <a:t>Conclusion (Handwritten) </a:t>
            </a:r>
          </a:p>
          <a:p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24EE0E-8BBD-5799-62BD-D950E044DF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ABDB27-ED5A-4E0B-8784-15C769C9A57F}" type="datetime1">
              <a:rPr lang="en-IN" smtClean="0"/>
              <a:t>15-07-2025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C7F78C-28FD-E9E0-F483-60F85C825F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Jigar Shah  (Asst. Prof., ICT, PDEU, Gandhinagar)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9ABF50-6222-095C-1283-15DE7B2C8E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489077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218A83D8036314F9AD3D552E201887A" ma:contentTypeVersion="3" ma:contentTypeDescription="Create a new document." ma:contentTypeScope="" ma:versionID="05de28fce94df776c23a6599f8d24276">
  <xsd:schema xmlns:xsd="http://www.w3.org/2001/XMLSchema" xmlns:xs="http://www.w3.org/2001/XMLSchema" xmlns:p="http://schemas.microsoft.com/office/2006/metadata/properties" xmlns:ns2="e04e232b-3421-42b1-ac31-b988076b4f96" targetNamespace="http://schemas.microsoft.com/office/2006/metadata/properties" ma:root="true" ma:fieldsID="39d5cd531208f9cacd8a89c696efe2c1" ns2:_="">
    <xsd:import namespace="e04e232b-3421-42b1-ac31-b988076b4f96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04e232b-3421-42b1-ac31-b988076b4f9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E503FB3A-155A-49B4-A582-6618CC37D2FD}"/>
</file>

<file path=customXml/itemProps2.xml><?xml version="1.0" encoding="utf-8"?>
<ds:datastoreItem xmlns:ds="http://schemas.openxmlformats.org/officeDocument/2006/customXml" ds:itemID="{C9C63938-3599-43AF-8087-8F4AAA7FC9F3}"/>
</file>

<file path=customXml/itemProps3.xml><?xml version="1.0" encoding="utf-8"?>
<ds:datastoreItem xmlns:ds="http://schemas.openxmlformats.org/officeDocument/2006/customXml" ds:itemID="{789C3985-E0EE-4ED7-9F23-BE5BE31C0393}"/>
</file>

<file path=docProps/app.xml><?xml version="1.0" encoding="utf-8"?>
<Properties xmlns="http://schemas.openxmlformats.org/officeDocument/2006/extended-properties" xmlns:vt="http://schemas.openxmlformats.org/officeDocument/2006/docPropsVTypes">
  <TotalTime>3622</TotalTime>
  <Words>363</Words>
  <Application>Microsoft Office PowerPoint</Application>
  <PresentationFormat>On-screen Show (4:3)</PresentationFormat>
  <Paragraphs>53</Paragraphs>
  <Slides>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12" baseType="lpstr">
      <vt:lpstr>Arial</vt:lpstr>
      <vt:lpstr>Calibri</vt:lpstr>
      <vt:lpstr>Consolas</vt:lpstr>
      <vt:lpstr>IBM Plex Mono</vt:lpstr>
      <vt:lpstr>IBM Plex Sans</vt:lpstr>
      <vt:lpstr>Tahoma</vt:lpstr>
      <vt:lpstr>URWPalladioL-Bold</vt:lpstr>
      <vt:lpstr>Office Theme</vt:lpstr>
      <vt:lpstr>  Experiment 5:  Binary Classification: MCE and Logistic Regression Algorithms</vt:lpstr>
      <vt:lpstr>Training Dataset from Sklearn Library</vt:lpstr>
      <vt:lpstr>Steps:</vt:lpstr>
      <vt:lpstr>Work Flow: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1  Probability Theory &amp; Random Variables</dc:title>
  <dc:creator>Jigar</dc:creator>
  <cp:lastModifiedBy>Jigarkumar Shah</cp:lastModifiedBy>
  <cp:revision>546</cp:revision>
  <dcterms:created xsi:type="dcterms:W3CDTF">2006-08-16T00:00:00Z</dcterms:created>
  <dcterms:modified xsi:type="dcterms:W3CDTF">2025-07-15T08:59:10Z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0x010100B218A83D8036314F9AD3D552E201887A</vt:lpwstr>
  </property>
</Properties>
</file>