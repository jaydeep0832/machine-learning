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460" r:id="rId4"/>
    <p:sldId id="459" r:id="rId5"/>
    <p:sldId id="45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7" autoAdjust="0"/>
    <p:restoredTop sz="78305" autoAdjust="0"/>
  </p:normalViewPr>
  <p:slideViewPr>
    <p:cSldViewPr>
      <p:cViewPr varScale="1">
        <p:scale>
          <a:sx n="71" d="100"/>
          <a:sy n="71" d="100"/>
        </p:scale>
        <p:origin x="163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23-03-2026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23-03-2026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23-03-2026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23-03-2026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23-03-2026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23-03-2026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23-03-2026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23-03-2026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23-03-2026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23-03-2026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23-03-2026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23-03-2026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23-03-2026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11250" y="3145414"/>
            <a:ext cx="6921500" cy="112178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600" dirty="0"/>
              <a:t> </a:t>
            </a:r>
            <a:br>
              <a:rPr lang="en-US" sz="3600" dirty="0"/>
            </a:br>
            <a:r>
              <a:rPr lang="en-US" sz="3600"/>
              <a:t>Experiment 8: </a:t>
            </a:r>
            <a:br>
              <a:rPr lang="en-US" sz="3600" dirty="0"/>
            </a:br>
            <a:r>
              <a:rPr lang="en-IN" sz="3600" dirty="0"/>
              <a:t>Multiclass Classification: Application of Logistics Regression and SVM Algorithms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23-03-2026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>
                <a:solidFill>
                  <a:srgbClr val="FF0000"/>
                </a:solidFill>
              </a:rPr>
              <a:t>MACHINE LEARNING AND APPLICATIONS </a:t>
            </a:r>
            <a:r>
              <a:rPr lang="en-IN" sz="3200" dirty="0">
                <a:solidFill>
                  <a:srgbClr val="FF0000"/>
                </a:solidFill>
              </a:rPr>
              <a:t>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750973" y="1956024"/>
            <a:ext cx="164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EC - Semester 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Training Dataset from </a:t>
            </a:r>
            <a:r>
              <a:rPr lang="en-US" dirty="0" err="1">
                <a:solidFill>
                  <a:srgbClr val="FF0000"/>
                </a:solidFill>
              </a:rPr>
              <a:t>Sklearn</a:t>
            </a:r>
            <a:r>
              <a:rPr lang="en-US" dirty="0">
                <a:solidFill>
                  <a:srgbClr val="FF0000"/>
                </a:solidFill>
              </a:rPr>
              <a:t> Library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04191"/>
            <a:ext cx="8229600" cy="475615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Complete List of Datasets in the </a:t>
            </a:r>
            <a:r>
              <a:rPr lang="en-IN" sz="2000" b="1" i="0" dirty="0" err="1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Sklearn</a:t>
            </a:r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 Library</a:t>
            </a:r>
          </a:p>
          <a:p>
            <a:pPr algn="l">
              <a:buFont typeface="+mj-lt"/>
              <a:buAutoNum type="arabicPeriod"/>
            </a:pPr>
            <a:r>
              <a:rPr lang="en-IN" sz="2000" b="1" i="0" dirty="0">
                <a:solidFill>
                  <a:srgbClr val="3C3C3B"/>
                </a:solidFill>
                <a:effectLst/>
                <a:latin typeface="IBM Plex Sans" panose="020B0503050203000203" pitchFamily="34" charset="0"/>
              </a:rPr>
              <a:t>Iris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Diabetes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Digits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Linnerud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Wine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Breast Cancer Wisconsin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Boston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Olivetti Faces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California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MNIST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Fashion-MNIST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make_classification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make_regression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make_blobs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make_moons</a:t>
            </a: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 and </a:t>
            </a: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make_circles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Make_sparse_coded_signal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3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To install </a:t>
            </a:r>
            <a:r>
              <a:rPr lang="en-US" sz="3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pip install scikit</a:t>
            </a:r>
            <a:r>
              <a:rPr lang="en-US" sz="3400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learn</a:t>
            </a:r>
            <a:endParaRPr lang="en-IN" sz="5700" b="0" i="0" dirty="0">
              <a:solidFill>
                <a:srgbClr val="3C3C3B"/>
              </a:solidFill>
              <a:effectLst/>
              <a:latin typeface="IBM Plex Sans" panose="020B0503050203000203" pitchFamily="34" charset="0"/>
            </a:endParaRPr>
          </a:p>
          <a:p>
            <a:pPr lvl="2"/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marL="914400" lvl="2" indent="0">
              <a:buNone/>
            </a:pPr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23-03-2026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0C5E-0917-7E94-75F4-039C1CA8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IRIS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FF1E-ABAB-C525-E699-4435C0C6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11225"/>
            <a:ext cx="8229600" cy="2716249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MinionPro-Regular"/>
              </a:rPr>
              <a:t>Contains the sepal and petal length and width of 150 IRIS flowers of three different </a:t>
            </a:r>
            <a:r>
              <a:rPr lang="pt-BR" sz="2400" b="0" i="0" u="none" strike="noStrike" baseline="0" dirty="0">
                <a:latin typeface="MinionPro-Regular"/>
              </a:rPr>
              <a:t>species: </a:t>
            </a:r>
            <a:r>
              <a:rPr lang="pt-BR" sz="2400" b="0" i="1" u="none" strike="noStrike" baseline="0" dirty="0">
                <a:latin typeface="MinionPro-It"/>
              </a:rPr>
              <a:t>Iris setosa</a:t>
            </a:r>
            <a:r>
              <a:rPr lang="pt-BR" sz="2400" b="0" i="0" u="none" strike="noStrike" baseline="0" dirty="0">
                <a:latin typeface="MinionPro-Regular"/>
              </a:rPr>
              <a:t>, </a:t>
            </a:r>
            <a:r>
              <a:rPr lang="pt-BR" sz="2400" b="0" i="1" u="none" strike="noStrike" baseline="0" dirty="0">
                <a:latin typeface="MinionPro-It"/>
              </a:rPr>
              <a:t>Iris versicolor</a:t>
            </a:r>
            <a:r>
              <a:rPr lang="pt-BR" sz="2400" b="0" i="0" u="none" strike="noStrike" baseline="0" dirty="0">
                <a:latin typeface="MinionPro-Regular"/>
              </a:rPr>
              <a:t>, and </a:t>
            </a:r>
            <a:r>
              <a:rPr lang="pt-BR" sz="2400" b="0" i="1" u="none" strike="noStrike" baseline="0">
                <a:latin typeface="MinionPro-It"/>
              </a:rPr>
              <a:t>Iris virginica (classes: 0,1,2).</a:t>
            </a:r>
            <a:endParaRPr lang="en-IN" sz="2400" b="0" i="0" u="none" strike="noStrike" baseline="0" dirty="0">
              <a:solidFill>
                <a:srgbClr val="000000"/>
              </a:solidFill>
              <a:latin typeface="URWPalladioL-R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A84E6-F805-9266-1CFD-E99AE020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23-03-2026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2F07-D16D-D5C8-EC09-51CECAA6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1643E-FECE-F6B4-013B-87DBFE15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3F2C5-238F-41D1-44E1-A125A9EB4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933" y="2971800"/>
            <a:ext cx="5501640" cy="305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55306"/>
            <a:ext cx="8839200" cy="639762"/>
          </a:xfrm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FF0000"/>
                </a:solidFill>
              </a:rPr>
              <a:t> Train and Test Logistics and SVM Algorithms from </a:t>
            </a:r>
            <a:r>
              <a:rPr lang="en-US" sz="3400" b="1" dirty="0" err="1">
                <a:solidFill>
                  <a:srgbClr val="FF0000"/>
                </a:solidFill>
              </a:rPr>
              <a:t>Sklearn</a:t>
            </a:r>
            <a:r>
              <a:rPr lang="en-US" sz="3400" b="1" dirty="0">
                <a:solidFill>
                  <a:srgbClr val="FF0000"/>
                </a:solidFill>
              </a:rPr>
              <a:t> using IRIS dataset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23-03-2026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1138"/>
            <a:ext cx="8229600" cy="6218238"/>
          </a:xfrm>
        </p:spPr>
        <p:txBody>
          <a:bodyPr>
            <a:normAutofit/>
          </a:bodyPr>
          <a:lstStyle/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IN" baseline="30000" dirty="0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99CCA18-1B38-98E7-F6FD-9C6AD99BCD40}"/>
              </a:ext>
            </a:extLst>
          </p:cNvPr>
          <p:cNvSpPr txBox="1">
            <a:spLocks/>
          </p:cNvSpPr>
          <p:nvPr/>
        </p:nvSpPr>
        <p:spPr>
          <a:xfrm>
            <a:off x="341489" y="1645947"/>
            <a:ext cx="8229600" cy="471040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3600" dirty="0">
                <a:solidFill>
                  <a:srgbClr val="000000"/>
                </a:solidFill>
                <a:latin typeface="URWPalladioL-Roma"/>
              </a:rPr>
              <a:t>Read complete IRIS data set in Python with all features and classes. Display dataset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URWPalladioL-Roma"/>
              </a:rPr>
              <a:t>.</a:t>
            </a:r>
          </a:p>
          <a:p>
            <a:pPr algn="just"/>
            <a:r>
              <a:rPr lang="en-US" sz="3700" dirty="0">
                <a:solidFill>
                  <a:srgbClr val="000000"/>
                </a:solidFill>
                <a:latin typeface="URWPalladioL-Roma"/>
              </a:rPr>
              <a:t>Use Standard scalar to standardize the dataset (mean = 0, variance = 1) as a preprocessing.</a:t>
            </a:r>
            <a:endParaRPr lang="en-IN" sz="3700" dirty="0">
              <a:solidFill>
                <a:srgbClr val="000000"/>
              </a:solidFill>
              <a:latin typeface="URWPalladioL-Roma"/>
            </a:endParaRPr>
          </a:p>
          <a:p>
            <a:pPr algn="just"/>
            <a:r>
              <a:rPr lang="en-IN" sz="3600" dirty="0">
                <a:solidFill>
                  <a:srgbClr val="000000"/>
                </a:solidFill>
                <a:latin typeface="URWPalladioL-Roma"/>
              </a:rPr>
              <a:t>Split the data set into training and testing parts.</a:t>
            </a:r>
          </a:p>
          <a:p>
            <a:pPr algn="just"/>
            <a:r>
              <a:rPr lang="en-IN" sz="3600" dirty="0">
                <a:solidFill>
                  <a:srgbClr val="000000"/>
                </a:solidFill>
                <a:latin typeface="URWPalladioL-Roma"/>
              </a:rPr>
              <a:t>Train multi-class Logistics Regression algorithm using inbuilt functions from </a:t>
            </a:r>
            <a:r>
              <a:rPr lang="en-IN" sz="3600" dirty="0" err="1">
                <a:solidFill>
                  <a:srgbClr val="000000"/>
                </a:solidFill>
                <a:latin typeface="URWPalladioL-Roma"/>
              </a:rPr>
              <a:t>Sklearn</a:t>
            </a:r>
            <a:r>
              <a:rPr lang="en-IN" sz="3600" dirty="0">
                <a:solidFill>
                  <a:srgbClr val="000000"/>
                </a:solidFill>
                <a:latin typeface="URWPalladioL-Roma"/>
              </a:rPr>
              <a:t>.</a:t>
            </a:r>
          </a:p>
          <a:p>
            <a:pPr algn="just"/>
            <a:r>
              <a:rPr lang="en-IN" sz="3600" dirty="0">
                <a:solidFill>
                  <a:srgbClr val="000000"/>
                </a:solidFill>
                <a:latin typeface="URWPalladioL-Roma"/>
              </a:rPr>
              <a:t>Note: Use </a:t>
            </a:r>
            <a:r>
              <a:rPr lang="en-US" sz="3600" dirty="0" err="1">
                <a:solidFill>
                  <a:srgbClr val="000000"/>
                </a:solidFill>
                <a:latin typeface="URWPalladioL-Roma"/>
              </a:rPr>
              <a:t>Softmax</a:t>
            </a:r>
            <a:r>
              <a:rPr lang="en-US" sz="3600" dirty="0">
                <a:solidFill>
                  <a:srgbClr val="000000"/>
                </a:solidFill>
                <a:latin typeface="URWPalladioL-Roma"/>
              </a:rPr>
              <a:t> Regression to classify the IRIS flowers into all three classes.</a:t>
            </a:r>
          </a:p>
          <a:p>
            <a:pPr algn="just"/>
            <a:r>
              <a:rPr lang="en-IN" sz="3600" dirty="0">
                <a:solidFill>
                  <a:srgbClr val="000000"/>
                </a:solidFill>
                <a:latin typeface="URWPalladioL-Roma"/>
              </a:rPr>
              <a:t>Test the algorithms on testing data set.</a:t>
            </a:r>
          </a:p>
          <a:p>
            <a:pPr algn="just"/>
            <a:r>
              <a:rPr lang="en-US" sz="3600" dirty="0">
                <a:solidFill>
                  <a:srgbClr val="000000"/>
                </a:solidFill>
                <a:latin typeface="URWPalladioL-Roma"/>
              </a:rPr>
              <a:t>Display performance matrix on both training and testing dataset: Classification Accuracy, Logarithmic loss, Area under Curve, F1 score (Precision, Recall), Confusion Matrix.</a:t>
            </a:r>
          </a:p>
          <a:p>
            <a:pPr algn="just"/>
            <a:r>
              <a:rPr lang="en-IN" sz="3600" dirty="0">
                <a:solidFill>
                  <a:srgbClr val="000000"/>
                </a:solidFill>
                <a:latin typeface="URWPalladioL-Roma"/>
              </a:rPr>
              <a:t>Repeat the same with linear SVM algorithm using </a:t>
            </a:r>
            <a:r>
              <a:rPr lang="en-IN" sz="3600" dirty="0" err="1">
                <a:solidFill>
                  <a:srgbClr val="000000"/>
                </a:solidFill>
                <a:latin typeface="URWPalladioL-Roma"/>
              </a:rPr>
              <a:t>Sklearn</a:t>
            </a:r>
            <a:r>
              <a:rPr lang="en-IN" sz="3600" dirty="0">
                <a:solidFill>
                  <a:srgbClr val="000000"/>
                </a:solidFill>
                <a:latin typeface="URWPalladioL-Roma"/>
              </a:rPr>
              <a:t> </a:t>
            </a:r>
            <a:r>
              <a:rPr lang="en-IN" sz="3600">
                <a:solidFill>
                  <a:srgbClr val="000000"/>
                </a:solidFill>
                <a:latin typeface="URWPalladioL-Roma"/>
              </a:rPr>
              <a:t>inbuilt functions. </a:t>
            </a:r>
            <a:endParaRPr lang="en-US" sz="3600" dirty="0"/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929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851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Aim of Experiment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About dataset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About performance matrix for Classification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Python code with results and graphs (print)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 (Handwritten)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23-03-2026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3" ma:contentTypeDescription="Create a new document." ma:contentTypeScope="" ma:versionID="05de28fce94df776c23a6599f8d24276">
  <xsd:schema xmlns:xsd="http://www.w3.org/2001/XMLSchema" xmlns:xs="http://www.w3.org/2001/XMLSchema" xmlns:p="http://schemas.microsoft.com/office/2006/metadata/properties" xmlns:ns2="e04e232b-3421-42b1-ac31-b988076b4f96" targetNamespace="http://schemas.microsoft.com/office/2006/metadata/properties" ma:root="true" ma:fieldsID="39d5cd531208f9cacd8a89c696efe2c1" ns2:_="">
    <xsd:import namespace="e04e232b-3421-42b1-ac31-b988076b4f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e232b-3421-42b1-ac31-b988076b4f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755FC5-F9F8-49A7-B10F-10CDA749F3D1}"/>
</file>

<file path=customXml/itemProps2.xml><?xml version="1.0" encoding="utf-8"?>
<ds:datastoreItem xmlns:ds="http://schemas.openxmlformats.org/officeDocument/2006/customXml" ds:itemID="{5E81EFDD-3F71-4713-8787-09D5967EF8AF}"/>
</file>

<file path=customXml/itemProps3.xml><?xml version="1.0" encoding="utf-8"?>
<ds:datastoreItem xmlns:ds="http://schemas.openxmlformats.org/officeDocument/2006/customXml" ds:itemID="{F25932D9-B8D3-484D-A54C-9FFD24F17478}"/>
</file>

<file path=docProps/app.xml><?xml version="1.0" encoding="utf-8"?>
<Properties xmlns="http://schemas.openxmlformats.org/officeDocument/2006/extended-properties" xmlns:vt="http://schemas.openxmlformats.org/officeDocument/2006/docPropsVTypes">
  <TotalTime>6618</TotalTime>
  <Words>373</Words>
  <Application>Microsoft Office PowerPoint</Application>
  <PresentationFormat>On-screen Show (4:3)</PresentationFormat>
  <Paragraphs>57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Calibri</vt:lpstr>
      <vt:lpstr>Consolas</vt:lpstr>
      <vt:lpstr>IBM Plex Mono</vt:lpstr>
      <vt:lpstr>IBM Plex Sans</vt:lpstr>
      <vt:lpstr>MinionPro-It</vt:lpstr>
      <vt:lpstr>MinionPro-Regular</vt:lpstr>
      <vt:lpstr>Tahoma</vt:lpstr>
      <vt:lpstr>URWPalladioL-Bold</vt:lpstr>
      <vt:lpstr>URWPalladioL-Roma</vt:lpstr>
      <vt:lpstr>Office Theme</vt:lpstr>
      <vt:lpstr>  Experiment 8:  Multiclass Classification: Application of Logistics Regression and SVM Algorithms</vt:lpstr>
      <vt:lpstr>Training Dataset from Sklearn Library</vt:lpstr>
      <vt:lpstr>IRIS Dataset</vt:lpstr>
      <vt:lpstr> Train and Test Logistics and SVM Algorithms from Sklearn using IRIS dataset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556</cp:revision>
  <dcterms:created xsi:type="dcterms:W3CDTF">2006-08-16T00:00:00Z</dcterms:created>
  <dcterms:modified xsi:type="dcterms:W3CDTF">2026-03-23T15:46:47Z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