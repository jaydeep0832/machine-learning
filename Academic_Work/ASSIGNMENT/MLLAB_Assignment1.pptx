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459" r:id="rId2"/>
    <p:sldId id="256" r:id="rId3"/>
    <p:sldId id="430" r:id="rId4"/>
    <p:sldId id="461" r:id="rId5"/>
    <p:sldId id="462" r:id="rId6"/>
    <p:sldId id="463" r:id="rId7"/>
    <p:sldId id="464" r:id="rId8"/>
    <p:sldId id="465" r:id="rId9"/>
    <p:sldId id="466" r:id="rId10"/>
    <p:sldId id="569" r:id="rId11"/>
    <p:sldId id="612" r:id="rId12"/>
    <p:sldId id="570" r:id="rId13"/>
    <p:sldId id="468" r:id="rId14"/>
    <p:sldId id="572" r:id="rId15"/>
    <p:sldId id="573" r:id="rId16"/>
    <p:sldId id="574" r:id="rId17"/>
    <p:sldId id="460" r:id="rId18"/>
    <p:sldId id="45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7" autoAdjust="0"/>
    <p:restoredTop sz="90621" autoAdjust="0"/>
  </p:normalViewPr>
  <p:slideViewPr>
    <p:cSldViewPr>
      <p:cViewPr varScale="1">
        <p:scale>
          <a:sx n="83" d="100"/>
          <a:sy n="83" d="100"/>
        </p:scale>
        <p:origin x="129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19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06-01-2026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06-01-2026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06-01-2026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06-01-2026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06-01-2026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06-01-2026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06-01-2026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2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emf"/><Relationship Id="rId5" Type="http://schemas.openxmlformats.org/officeDocument/2006/relationships/image" Target="../media/image33.emf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73E515-2BDA-F457-4EB8-33C10AB78D4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034A2FE-D172-435F-AA4B-518E3133ACED}" type="datetime1">
              <a:rPr lang="en-IN" smtClean="0"/>
              <a:t>06-01-2026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40DBC8-EC57-0EDA-1475-B56814C30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A7063-DD38-FDD5-F958-1861A85B0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6F16C-70B1-3A8D-FF70-1A03D6363FC0}"/>
              </a:ext>
            </a:extLst>
          </p:cNvPr>
          <p:cNvSpPr txBox="1"/>
          <p:nvPr/>
        </p:nvSpPr>
        <p:spPr>
          <a:xfrm>
            <a:off x="152400" y="3131403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Note:</a:t>
            </a:r>
            <a:r>
              <a:rPr lang="en-IN" sz="2400" dirty="0"/>
              <a:t> Theory Internal Marks based on </a:t>
            </a:r>
            <a:r>
              <a:rPr lang="en-IN" sz="2400"/>
              <a:t>Assignment Work/Quiz </a:t>
            </a:r>
            <a:r>
              <a:rPr lang="en-IN" sz="2400" dirty="0"/>
              <a:t>(25%)</a:t>
            </a:r>
          </a:p>
          <a:p>
            <a:r>
              <a:rPr lang="en-IN" sz="2400" dirty="0"/>
              <a:t>           Practical Internal Marks based on Experimental Lab Work (50%)</a:t>
            </a:r>
          </a:p>
        </p:txBody>
      </p:sp>
    </p:spTree>
    <p:extLst>
      <p:ext uri="{BB962C8B-B14F-4D97-AF65-F5344CB8AC3E}">
        <p14:creationId xmlns:p14="http://schemas.microsoft.com/office/powerpoint/2010/main" val="1891479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166019" y="2935734"/>
            <a:ext cx="6921500" cy="139658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r>
              <a:rPr lang="en-US" sz="3600" dirty="0"/>
              <a:t>Assignment 1: </a:t>
            </a:r>
            <a:br>
              <a:rPr lang="en-US" sz="3600" dirty="0"/>
            </a:br>
            <a:r>
              <a:rPr lang="en-US" sz="3600" dirty="0"/>
              <a:t>Mathematical Preliminaries - I: </a:t>
            </a:r>
            <a:br>
              <a:rPr lang="en-US" sz="3600" dirty="0"/>
            </a:br>
            <a:r>
              <a:rPr lang="en-US" sz="3600" dirty="0"/>
              <a:t>Linear Algebra</a:t>
            </a:r>
            <a:br>
              <a:rPr lang="en-IN" sz="3600" dirty="0">
                <a:solidFill>
                  <a:srgbClr val="FF0000"/>
                </a:solidFill>
              </a:rPr>
            </a:b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06-01-2026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381000" y="920524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MACHINE LEARNING LAB </a:t>
            </a:r>
            <a:r>
              <a:rPr lang="en-IN" sz="3200">
                <a:solidFill>
                  <a:srgbClr val="FF0000"/>
                </a:solidFill>
              </a:rPr>
              <a:t>(20IC313P)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2965276" y="1997742"/>
            <a:ext cx="3918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ICT - Semester 6 – Dept. Elective Course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1689" y="990600"/>
            <a:ext cx="8610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u="sng" dirty="0">
                <a:solidFill>
                  <a:srgbClr val="FF0000"/>
                </a:solidFill>
                <a:latin typeface="CMR10"/>
              </a:rPr>
              <a:t>Chapter 2; Topic 2.1 of Book:</a:t>
            </a:r>
          </a:p>
          <a:p>
            <a:pPr marL="0" indent="0" algn="just">
              <a:buNone/>
            </a:pPr>
            <a:r>
              <a:rPr lang="en-US" sz="2800" dirty="0"/>
              <a:t>Machine Learning Fundamentals; Hui Jiang; 2020; Cambridge University Press</a:t>
            </a:r>
            <a:r>
              <a:rPr lang="en-US" sz="2800" dirty="0">
                <a:latin typeface="CMR10"/>
              </a:rPr>
              <a:t>.</a:t>
            </a:r>
          </a:p>
          <a:p>
            <a:pPr marL="0" indent="0" algn="just">
              <a:buNone/>
            </a:pPr>
            <a:endParaRPr lang="en-US" sz="2800" dirty="0">
              <a:latin typeface="CMR10"/>
            </a:endParaRPr>
          </a:p>
          <a:p>
            <a:pPr marL="0" indent="0" algn="just">
              <a:buNone/>
            </a:pPr>
            <a:r>
              <a:rPr lang="en-US" sz="2800" b="1" u="sng" dirty="0">
                <a:solidFill>
                  <a:srgbClr val="FF0000"/>
                </a:solidFill>
                <a:latin typeface="CMR10"/>
              </a:rPr>
              <a:t>Topics to Learn:</a:t>
            </a:r>
          </a:p>
          <a:p>
            <a:pPr algn="just"/>
            <a:r>
              <a:rPr lang="en-US" sz="2800" dirty="0">
                <a:latin typeface="CMR10"/>
              </a:rPr>
              <a:t>Vectors and Matrices</a:t>
            </a:r>
          </a:p>
          <a:p>
            <a:pPr algn="just"/>
            <a:r>
              <a:rPr lang="en-US" sz="2800" dirty="0">
                <a:latin typeface="CMR10"/>
              </a:rPr>
              <a:t>Linear Transformation</a:t>
            </a:r>
          </a:p>
          <a:p>
            <a:pPr algn="just"/>
            <a:r>
              <a:rPr lang="en-US" sz="2800" dirty="0">
                <a:latin typeface="CMR10"/>
              </a:rPr>
              <a:t>Basic Matrix Operations</a:t>
            </a:r>
          </a:p>
          <a:p>
            <a:pPr algn="just"/>
            <a:r>
              <a:rPr lang="en-US" sz="2800" dirty="0">
                <a:latin typeface="CMR10"/>
              </a:rPr>
              <a:t>Eigen Values and Eigen Vectors</a:t>
            </a:r>
          </a:p>
          <a:p>
            <a:pPr algn="just"/>
            <a:r>
              <a:rPr lang="en-US" sz="2800" dirty="0">
                <a:latin typeface="CMR10"/>
              </a:rPr>
              <a:t>Matrix Calculus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779A94-947F-FE8F-8AE7-7F2BCD7C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66AAF-33F1-4B95-9037-9B10B63224F3}" type="datetime1">
              <a:rPr lang="en-IN" smtClean="0"/>
              <a:t>06-01-2026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E4FEE-4F01-BE33-9AB3-D821D4B3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3639C-F866-DD6F-6216-4E2E0A35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FED0242-104F-7733-AA5A-7F24BCDDB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712" y="76200"/>
            <a:ext cx="8229600" cy="73025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Ref.: </a:t>
            </a:r>
          </a:p>
        </p:txBody>
      </p:sp>
    </p:spTree>
    <p:extLst>
      <p:ext uri="{BB962C8B-B14F-4D97-AF65-F5344CB8AC3E}">
        <p14:creationId xmlns:p14="http://schemas.microsoft.com/office/powerpoint/2010/main" val="413259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D824-A9C3-EE22-A3B8-FAEAFC7F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18" y="42214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Notations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9100E-DB44-52A0-B46F-46B123805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72BFE-50FB-4B9F-C871-806B1121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07E38-9878-9830-950E-AB706BC36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CE985-DDF3-EC4E-8DD1-3E8EED9DC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792B1-386C-26FF-C078-D55F41DAD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731837"/>
            <a:ext cx="4510517" cy="598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15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0B9A5-84A3-C05F-1F0D-A979D9EA4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Summary of the General Notation Rules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5C3AC-3DBE-60AD-7F16-701423467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ABF2F-8011-F58E-6C89-35E53ECF3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C2CC7-7B5D-55ED-7DAA-79FC4FF08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132B5-3EE0-45DB-81D5-A26F21510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302C1E-D471-C473-D731-BB49E70B4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73" y="1231612"/>
            <a:ext cx="6964054" cy="539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915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E8D25-F3D8-F8F1-FE46-08B307A5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36"/>
            <a:ext cx="8229600" cy="1143000"/>
          </a:xfrm>
        </p:spPr>
        <p:txBody>
          <a:bodyPr/>
          <a:lstStyle/>
          <a:p>
            <a:r>
              <a:rPr lang="en-IN" b="1" dirty="0"/>
              <a:t>Vectors and Matrices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6E233-7DD7-E176-8B66-40782CE59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922399"/>
            <a:ext cx="8382000" cy="4398962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1800" b="0" i="0" u="none" strike="noStrike" baseline="0" dirty="0">
                <a:latin typeface="URWPalladioL-Roma"/>
              </a:rPr>
              <a:t>A </a:t>
            </a:r>
            <a:r>
              <a:rPr lang="en-US" sz="1800" b="0" i="0" u="none" strike="noStrike" baseline="0" dirty="0">
                <a:latin typeface="URWPalladioL-Ital"/>
              </a:rPr>
              <a:t>scalar </a:t>
            </a:r>
            <a:r>
              <a:rPr lang="en-US" sz="1800" b="0" i="0" u="none" strike="noStrike" baseline="0" dirty="0">
                <a:latin typeface="URWPalladioL-Roma"/>
              </a:rPr>
              <a:t>is a single number, often denoted by a lowercase letter, such as </a:t>
            </a:r>
            <a:r>
              <a:rPr lang="en-US" sz="1800" b="0" i="1" u="none" strike="noStrike" baseline="0" dirty="0">
                <a:latin typeface="NimbusRomNo9L-ReguItal"/>
              </a:rPr>
              <a:t>x</a:t>
            </a:r>
            <a:r>
              <a:rPr lang="en-US" sz="1800" b="0" i="0" u="none" strike="noStrike" baseline="0" dirty="0">
                <a:latin typeface="NimbusRomNo9L-ReguItal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or </a:t>
            </a:r>
            <a:r>
              <a:rPr lang="en-US" sz="1800" b="0" i="0" u="none" strike="noStrike" baseline="0" dirty="0">
                <a:latin typeface="NimbusRomNo9L-ReguItal"/>
              </a:rPr>
              <a:t>n</a:t>
            </a:r>
            <a:r>
              <a:rPr lang="en-US" sz="1800" b="0" i="0" u="none" strike="noStrike" baseline="0" dirty="0">
                <a:latin typeface="URWPalladioL-Roma"/>
              </a:rPr>
              <a:t>. We also use </a:t>
            </a:r>
            <a:r>
              <a:rPr lang="en-US" sz="1800" b="0" i="0" u="none" strike="noStrike" baseline="0" dirty="0">
                <a:latin typeface="NimbusRomNo9L-ReguItal"/>
              </a:rPr>
              <a:t>x </a:t>
            </a:r>
            <a:r>
              <a:rPr lang="en-US" sz="1800" b="0" i="0" u="none" strike="noStrike" baseline="0" dirty="0">
                <a:latin typeface="txsys"/>
              </a:rPr>
              <a:t>∈ </a:t>
            </a:r>
            <a:r>
              <a:rPr lang="en-US" sz="18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1800" b="0" i="0" u="none" strike="noStrike" baseline="0" dirty="0">
                <a:latin typeface="txsys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to indicate that </a:t>
            </a:r>
            <a:r>
              <a:rPr lang="en-US" sz="1800" b="0" i="0" u="none" strike="noStrike" baseline="0" dirty="0">
                <a:latin typeface="NimbusRomNo9L-ReguItal"/>
              </a:rPr>
              <a:t>x </a:t>
            </a:r>
            <a:r>
              <a:rPr lang="en-US" sz="1800" b="0" i="0" u="none" strike="noStrike" baseline="0" dirty="0">
                <a:latin typeface="URWPalladioL-Roma"/>
              </a:rPr>
              <a:t>is a real-valued scalar and </a:t>
            </a:r>
            <a:r>
              <a:rPr lang="en-US" sz="1800" b="0" i="0" u="none" strike="noStrike" baseline="0" dirty="0">
                <a:latin typeface="NimbusRomNo9L-ReguItal"/>
              </a:rPr>
              <a:t>n </a:t>
            </a:r>
            <a:r>
              <a:rPr lang="en-US" sz="1800" b="0" i="0" u="none" strike="noStrike" baseline="0" dirty="0">
                <a:latin typeface="txsys"/>
              </a:rPr>
              <a:t>∈ </a:t>
            </a:r>
            <a:r>
              <a:rPr lang="en-US" sz="1800" b="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N</a:t>
            </a:r>
            <a:r>
              <a:rPr lang="en-US" sz="1800" b="1" i="0" u="none" strike="noStrike" baseline="0" dirty="0">
                <a:latin typeface="PazoMathBlackboardBold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for that </a:t>
            </a:r>
            <a:r>
              <a:rPr lang="en-US" sz="1800" b="0" i="0" u="none" strike="noStrike" baseline="0" dirty="0">
                <a:latin typeface="NimbusRomNo9L-ReguItal"/>
              </a:rPr>
              <a:t>n </a:t>
            </a:r>
            <a:r>
              <a:rPr lang="en-US" sz="1800" b="0" i="0" u="none" strike="noStrike" baseline="0" dirty="0">
                <a:latin typeface="URWPalladioL-Roma"/>
              </a:rPr>
              <a:t>is a natural number.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A </a:t>
            </a:r>
            <a:r>
              <a:rPr lang="en-US" sz="1800" b="0" i="0" u="none" strike="noStrike" baseline="0" dirty="0">
                <a:latin typeface="URWPalladioL-Ital"/>
              </a:rPr>
              <a:t>vector </a:t>
            </a:r>
            <a:r>
              <a:rPr lang="en-US" sz="1800" b="0" i="0" u="none" strike="noStrike" baseline="0" dirty="0">
                <a:latin typeface="URWPalladioL-Roma"/>
              </a:rPr>
              <a:t>is a list of numbers arranged in order, denoted by a lowercase letter in bold, such as </a:t>
            </a:r>
            <a:r>
              <a:rPr lang="en-US" sz="1800" b="1" i="0" u="none" strike="noStrike" baseline="0" dirty="0">
                <a:latin typeface="URWPalladioL-Bold"/>
              </a:rPr>
              <a:t>x </a:t>
            </a:r>
            <a:r>
              <a:rPr lang="en-US" sz="1800" b="0" i="0" u="none" strike="noStrike" baseline="0" dirty="0">
                <a:latin typeface="URWPalladioL-Roma"/>
              </a:rPr>
              <a:t>or </a:t>
            </a:r>
            <a:r>
              <a:rPr lang="en-US" sz="1800" b="1" i="0" u="none" strike="noStrike" baseline="0" dirty="0">
                <a:latin typeface="URWPalladioL-Bold"/>
              </a:rPr>
              <a:t>y</a:t>
            </a:r>
            <a:r>
              <a:rPr lang="en-US" sz="1800" b="0" i="0" u="none" strike="noStrike" baseline="0" dirty="0">
                <a:latin typeface="URWPalladioL-Roma"/>
              </a:rPr>
              <a:t>. (OR variable with bar sign above it while teaching on board)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All numbers in a vector can be aligned in a row or column, called a </a:t>
            </a:r>
            <a:r>
              <a:rPr lang="en-US" sz="1800" b="0" i="0" u="none" strike="noStrike" baseline="0" dirty="0">
                <a:latin typeface="URWPalladioL-Ital"/>
              </a:rPr>
              <a:t>row vector </a:t>
            </a:r>
            <a:r>
              <a:rPr lang="en-US" sz="1800" b="0" i="0" u="none" strike="noStrike" baseline="0" dirty="0">
                <a:latin typeface="URWPalladioL-Roma"/>
              </a:rPr>
              <a:t>or </a:t>
            </a:r>
            <a:r>
              <a:rPr lang="en-US" sz="1800" b="0" i="0" u="none" strike="noStrike" baseline="0" dirty="0">
                <a:latin typeface="URWPalladioL-Ital"/>
              </a:rPr>
              <a:t>column vector</a:t>
            </a:r>
            <a:r>
              <a:rPr lang="en-US" sz="1800" b="0" i="0" u="none" strike="noStrike" baseline="0" dirty="0">
                <a:latin typeface="URWPalladioL-Roma"/>
              </a:rPr>
              <a:t>, accordingly. By default </a:t>
            </a:r>
            <a:r>
              <a:rPr lang="en-IN" sz="1800" b="0" i="0" u="none" strike="noStrike" baseline="0" dirty="0">
                <a:latin typeface="URWPalladioL-Roma"/>
              </a:rPr>
              <a:t>adopts the convention of </a:t>
            </a:r>
            <a:r>
              <a:rPr lang="en-US" sz="1800" b="0" i="0" u="none" strike="noStrike" baseline="0" dirty="0">
                <a:latin typeface="URWPalladioL-Roma"/>
              </a:rPr>
              <a:t>writing a vector in a column.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We use </a:t>
            </a:r>
            <a:r>
              <a:rPr lang="en-US" sz="1800" b="1" i="0" u="none" strike="noStrike" baseline="0" dirty="0">
                <a:latin typeface="URWPalladioL-Bold"/>
              </a:rPr>
              <a:t>x </a:t>
            </a:r>
            <a:r>
              <a:rPr lang="en-US" sz="1800" b="0" i="0" u="none" strike="noStrike" baseline="0" dirty="0">
                <a:latin typeface="txsys"/>
              </a:rPr>
              <a:t>∈ </a:t>
            </a:r>
            <a:r>
              <a:rPr lang="en-US" sz="18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1800" i="0" u="none" strike="noStrike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n</a:t>
            </a:r>
            <a:r>
              <a:rPr lang="en-US" sz="1800" i="0" u="none" strike="noStrike" baseline="30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to indicate that </a:t>
            </a:r>
            <a:r>
              <a:rPr lang="en-US" sz="1800" b="1" i="0" u="none" strike="noStrike" baseline="0" dirty="0">
                <a:latin typeface="URWPalladioL-Bold"/>
              </a:rPr>
              <a:t>x </a:t>
            </a:r>
            <a:r>
              <a:rPr lang="en-US" sz="1800" b="0" i="0" u="none" strike="noStrike" baseline="0" dirty="0">
                <a:latin typeface="URWPalladioL-Roma"/>
              </a:rPr>
              <a:t>is an </a:t>
            </a:r>
            <a:r>
              <a:rPr lang="en-US" sz="1800" b="0" i="0" u="none" strike="noStrike" baseline="0" dirty="0">
                <a:latin typeface="NimbusRomNo9L-ReguItal"/>
              </a:rPr>
              <a:t>n</a:t>
            </a:r>
            <a:r>
              <a:rPr lang="en-US" sz="1800" b="0" i="0" u="none" strike="noStrike" baseline="0" dirty="0">
                <a:latin typeface="URWPalladioL-Roma"/>
              </a:rPr>
              <a:t>-dimensional vector containing </a:t>
            </a:r>
            <a:r>
              <a:rPr lang="en-US" sz="1800" b="0" i="0" u="none" strike="noStrike" baseline="0" dirty="0">
                <a:latin typeface="NimbusRomNo9L-ReguItal"/>
              </a:rPr>
              <a:t>n </a:t>
            </a:r>
            <a:r>
              <a:rPr lang="en-US" sz="1800" b="0" i="0" u="none" strike="noStrike" baseline="0" dirty="0">
                <a:latin typeface="URWPalladioL-Roma"/>
              </a:rPr>
              <a:t>real numbers.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A </a:t>
            </a:r>
            <a:r>
              <a:rPr lang="en-US" sz="1800" b="0" i="0" u="none" strike="noStrike" baseline="0" dirty="0">
                <a:latin typeface="URWPalladioL-Ital"/>
              </a:rPr>
              <a:t>matrix </a:t>
            </a:r>
            <a:r>
              <a:rPr lang="en-US" sz="1800" b="0" i="0" u="none" strike="noStrike" baseline="0" dirty="0">
                <a:latin typeface="URWPalladioL-Roma"/>
              </a:rPr>
              <a:t>is a group of numbers arranged in a two-dimensional array, often denoted by an uppercase letter in bold, such as </a:t>
            </a:r>
            <a:r>
              <a:rPr lang="en-US" sz="1800" b="1" i="0" u="none" strike="noStrike" baseline="0" dirty="0">
                <a:latin typeface="URWPalladioL-Bold"/>
              </a:rPr>
              <a:t>A </a:t>
            </a:r>
            <a:r>
              <a:rPr lang="en-US" sz="1800" b="0" i="0" u="none" strike="noStrike" baseline="0" dirty="0">
                <a:latin typeface="URWPalladioL-Roma"/>
              </a:rPr>
              <a:t>or </a:t>
            </a:r>
            <a:r>
              <a:rPr lang="en-US" sz="1800" b="1" i="0" u="none" strike="noStrike" baseline="0" dirty="0">
                <a:latin typeface="URWPalladioL-Bold"/>
              </a:rPr>
              <a:t>B</a:t>
            </a:r>
            <a:r>
              <a:rPr lang="en-US" sz="1800" b="0" i="0" u="none" strike="noStrike" baseline="0" dirty="0">
                <a:latin typeface="URWPalladioL-Roma"/>
              </a:rPr>
              <a:t>. 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For example, a matrix containing </a:t>
            </a:r>
            <a:r>
              <a:rPr lang="en-US" sz="1800" b="0" i="0" u="none" strike="noStrike" baseline="0" dirty="0">
                <a:latin typeface="NimbusRomNo9L-ReguItal"/>
              </a:rPr>
              <a:t>m </a:t>
            </a:r>
            <a:r>
              <a:rPr lang="en-US" sz="1800" b="0" i="0" u="none" strike="noStrike" baseline="0" dirty="0">
                <a:latin typeface="URWPalladioL-Roma"/>
              </a:rPr>
              <a:t>rows and </a:t>
            </a:r>
            <a:r>
              <a:rPr lang="en-US" sz="1800" b="0" i="0" u="none" strike="noStrike" baseline="0" dirty="0">
                <a:latin typeface="NimbusRomNo9L-ReguItal"/>
              </a:rPr>
              <a:t>n </a:t>
            </a:r>
            <a:r>
              <a:rPr lang="en-US" sz="1800" b="0" i="0" u="none" strike="noStrike" baseline="0" dirty="0">
                <a:latin typeface="URWPalladioL-Roma"/>
              </a:rPr>
              <a:t>columns is called an m x </a:t>
            </a:r>
            <a:r>
              <a:rPr lang="en-US" sz="1800" b="0" i="0" u="none" strike="noStrike" baseline="0" dirty="0">
                <a:latin typeface="txsys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n </a:t>
            </a:r>
            <a:r>
              <a:rPr lang="en-US" sz="1800" b="0" i="0" u="none" strike="noStrike" baseline="0" dirty="0">
                <a:latin typeface="URWPalladioL-Ital"/>
              </a:rPr>
              <a:t>matrix.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We use </a:t>
            </a:r>
            <a:r>
              <a:rPr lang="en-US" sz="1800" b="1" i="0" u="none" strike="noStrike" baseline="0" dirty="0">
                <a:latin typeface="URWPalladioL-Bold"/>
              </a:rPr>
              <a:t>A </a:t>
            </a:r>
            <a:r>
              <a:rPr lang="en-US" sz="1800" b="0" i="0" u="none" strike="noStrike" baseline="0" dirty="0">
                <a:latin typeface="txsys"/>
              </a:rPr>
              <a:t>∈ </a:t>
            </a:r>
            <a:r>
              <a:rPr lang="en-US" sz="18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1800" b="0" i="0" u="none" strike="noStrike" baseline="30000" dirty="0">
                <a:latin typeface="rntxmi7"/>
              </a:rPr>
              <a:t>m x n</a:t>
            </a:r>
            <a:r>
              <a:rPr lang="en-US" sz="1800" b="0" i="0" u="none" strike="noStrike" baseline="0" dirty="0">
                <a:latin typeface="rntxmi7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to indicate that </a:t>
            </a:r>
            <a:r>
              <a:rPr lang="en-US" sz="1800" b="1" i="0" u="none" strike="noStrike" baseline="0" dirty="0">
                <a:latin typeface="URWPalladioL-Bold"/>
              </a:rPr>
              <a:t>A </a:t>
            </a:r>
            <a:r>
              <a:rPr lang="en-US" sz="1800" b="0" i="0" u="none" strike="noStrike" baseline="0" dirty="0">
                <a:latin typeface="URWPalladioL-Roma"/>
              </a:rPr>
              <a:t>is an </a:t>
            </a:r>
            <a:r>
              <a:rPr lang="en-US" sz="1800" b="0" i="0" u="none" strike="noStrike" baseline="0" dirty="0">
                <a:latin typeface="NimbusRomNo9L-ReguItal"/>
              </a:rPr>
              <a:t>m x</a:t>
            </a:r>
            <a:r>
              <a:rPr lang="en-US" sz="1800" b="0" i="0" u="none" strike="noStrike" baseline="0" dirty="0">
                <a:latin typeface="txsys"/>
              </a:rPr>
              <a:t> </a:t>
            </a:r>
            <a:r>
              <a:rPr lang="en-US" sz="1800" b="0" i="0" u="none" strike="noStrike" baseline="0" dirty="0">
                <a:latin typeface="NimbusRomNo9L-ReguItal"/>
              </a:rPr>
              <a:t>n </a:t>
            </a:r>
            <a:r>
              <a:rPr lang="en-US" sz="1800" b="0" i="0" u="none" strike="noStrike" baseline="0" dirty="0">
                <a:latin typeface="URWPalladioL-Roma"/>
              </a:rPr>
              <a:t>matrix containing all real </a:t>
            </a:r>
            <a:r>
              <a:rPr lang="en-IN" sz="1800" b="0" i="0" u="none" strike="noStrike" baseline="0" dirty="0">
                <a:latin typeface="URWPalladioL-Roma"/>
              </a:rPr>
              <a:t>numbers.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Along the same lines, we can arrange a group of numbers in a three-dimensional or higher-dimensional array, which is often </a:t>
            </a:r>
            <a:r>
              <a:rPr lang="en-IN" sz="1800" b="0" i="0" u="none" strike="noStrike" baseline="0" dirty="0">
                <a:latin typeface="URWPalladioL-Roma"/>
              </a:rPr>
              <a:t>called a </a:t>
            </a:r>
            <a:r>
              <a:rPr lang="en-IN" sz="1800" b="0" i="0" u="none" strike="noStrike" baseline="0" dirty="0">
                <a:latin typeface="URWPalladioL-Ital"/>
              </a:rPr>
              <a:t>tensor</a:t>
            </a:r>
            <a:r>
              <a:rPr lang="en-IN" sz="1800" b="0" i="0" u="none" strike="noStrike" baseline="0" dirty="0">
                <a:latin typeface="URWPalladioL-Roma"/>
              </a:rPr>
              <a:t>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58036-B123-E9D4-2B7B-1C486D66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3B6AB-3ABC-6FFF-24C3-5FFE4C7DE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452B1-9364-4ED3-D4B3-A1FEF1F3F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AutoShape 4" descr="\mathbb {R} ">
            <a:extLst>
              <a:ext uri="{FF2B5EF4-FFF2-40B4-BE49-F238E27FC236}">
                <a16:creationId xmlns:a16="http://schemas.microsoft.com/office/drawing/2014/main" id="{FFEB6F53-C010-729F-86BF-890BCBC353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EC9FA2-E3A5-6D9E-7660-507EA60E02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08"/>
          <a:stretch/>
        </p:blipFill>
        <p:spPr>
          <a:xfrm>
            <a:off x="1524000" y="5119233"/>
            <a:ext cx="5646109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9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E8D25-F3D8-F8F1-FE46-08B307A5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23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fr-FR" b="1" dirty="0" err="1"/>
              <a:t>Linear</a:t>
            </a:r>
            <a:r>
              <a:rPr lang="fr-FR" b="1" dirty="0"/>
              <a:t> Transformation as Matrix Multiplication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6E233-7DD7-E176-8B66-40782CE59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893" y="2558328"/>
            <a:ext cx="7010400" cy="362424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1800" b="0" i="0" u="none" strike="noStrike" baseline="0" dirty="0">
                <a:latin typeface="URWPalladioL-Roma"/>
              </a:rPr>
              <a:t>Using the matrix multiplication, any point </a:t>
            </a:r>
            <a:r>
              <a:rPr lang="en-US" sz="1800" b="1" i="0" u="none" strike="noStrike" baseline="0" dirty="0">
                <a:latin typeface="URWPalladioL-Bold"/>
              </a:rPr>
              <a:t>x </a:t>
            </a:r>
            <a:r>
              <a:rPr lang="en-US" sz="1800" b="0" i="0" u="none" strike="noStrike" baseline="0" dirty="0">
                <a:latin typeface="URWPalladioL-Roma"/>
              </a:rPr>
              <a:t>in the first space </a:t>
            </a:r>
            <a:r>
              <a:rPr lang="en-US" sz="18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1800" b="0" i="0" u="none" strike="noStrike" baseline="30000" dirty="0">
                <a:latin typeface="rntxmi7"/>
              </a:rPr>
              <a:t>n</a:t>
            </a:r>
            <a:r>
              <a:rPr lang="en-US" sz="1800" b="0" i="0" u="none" strike="noStrike" baseline="0" dirty="0">
                <a:latin typeface="rntxmi7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is transformed into another point </a:t>
            </a:r>
            <a:r>
              <a:rPr lang="en-US" sz="1800" b="1" i="0" u="none" strike="noStrike" baseline="0" dirty="0">
                <a:latin typeface="URWPalladioL-Bold"/>
              </a:rPr>
              <a:t>y </a:t>
            </a:r>
            <a:r>
              <a:rPr lang="en-US" sz="1800" b="0" i="0" u="none" strike="noStrike" baseline="0" dirty="0">
                <a:latin typeface="URWPalladioL-Roma"/>
              </a:rPr>
              <a:t>in a different space </a:t>
            </a: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1800" b="0" i="0" u="none" strike="noStrike" baseline="30000" dirty="0">
                <a:latin typeface="rntxmi7"/>
              </a:rPr>
              <a:t>m</a:t>
            </a:r>
            <a:r>
              <a:rPr lang="en-US" sz="1800" b="0" i="0" u="none" strike="noStrike" baseline="0" dirty="0">
                <a:latin typeface="URWPalladioL-Roma"/>
              </a:rPr>
              <a:t>. 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The exact mapping between </a:t>
            </a:r>
            <a:r>
              <a:rPr lang="en-US" sz="1800" b="1" i="0" u="none" strike="noStrike" baseline="0" dirty="0">
                <a:latin typeface="URWPalladioL-Bold"/>
              </a:rPr>
              <a:t>x </a:t>
            </a:r>
            <a:r>
              <a:rPr lang="en-US" sz="1800" b="0" i="0" u="none" strike="noStrike" baseline="0" dirty="0">
                <a:latin typeface="URWPalladioL-Roma"/>
              </a:rPr>
              <a:t>and </a:t>
            </a:r>
            <a:r>
              <a:rPr lang="en-US" sz="1800" b="1" i="0" u="none" strike="noStrike" baseline="0" dirty="0">
                <a:latin typeface="URWPalladioL-Bold"/>
              </a:rPr>
              <a:t>y </a:t>
            </a:r>
            <a:r>
              <a:rPr lang="en-US" sz="1800" b="0" i="0" u="none" strike="noStrike" baseline="0" dirty="0">
                <a:latin typeface="URWPalladioL-Roma"/>
              </a:rPr>
              <a:t>depends on all numbers in the matrix </a:t>
            </a:r>
            <a:r>
              <a:rPr lang="en-US" sz="1800" b="1" i="0" u="none" strike="noStrike" baseline="0" dirty="0">
                <a:latin typeface="URWPalladioL-Bold"/>
              </a:rPr>
              <a:t>A</a:t>
            </a:r>
            <a:r>
              <a:rPr lang="en-US" sz="1800" b="0" i="0" u="none" strike="noStrike" baseline="0" dirty="0">
                <a:latin typeface="URWPalladioL-Roma"/>
              </a:rPr>
              <a:t>. 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If </a:t>
            </a:r>
            <a:r>
              <a:rPr lang="en-US" sz="1800" b="1" i="0" u="none" strike="noStrike" baseline="0" dirty="0">
                <a:latin typeface="URWPalladioL-Bold"/>
              </a:rPr>
              <a:t>A </a:t>
            </a:r>
            <a:r>
              <a:rPr lang="en-US" sz="1800" b="0" i="0" u="none" strike="noStrike" baseline="0" dirty="0">
                <a:latin typeface="URWPalladioL-Roma"/>
              </a:rPr>
              <a:t>is a square matrix in </a:t>
            </a:r>
            <a:r>
              <a:rPr lang="en-US" sz="1800" i="0" u="none" strike="noStrike" baseline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1800" b="0" i="0" u="none" strike="noStrike" baseline="30000" dirty="0" err="1">
                <a:latin typeface="rntxmi7"/>
              </a:rPr>
              <a:t>nxn</a:t>
            </a:r>
            <a:r>
              <a:rPr lang="en-US" sz="1800" b="0" i="0" u="none" strike="noStrike" baseline="0" dirty="0">
                <a:latin typeface="URWPalladioL-Roma"/>
              </a:rPr>
              <a:t>, this mapping can also be viewed as transforming one point </a:t>
            </a:r>
            <a:r>
              <a:rPr lang="en-US" sz="1800" b="1" i="0" u="none" strike="noStrike" baseline="0" dirty="0">
                <a:latin typeface="URWPalladioL-Bold"/>
              </a:rPr>
              <a:t>x </a:t>
            </a:r>
            <a:r>
              <a:rPr lang="en-US" sz="1800" b="0" i="0" u="none" strike="noStrike" baseline="0" dirty="0">
                <a:latin typeface="txsys"/>
              </a:rPr>
              <a:t>∈ </a:t>
            </a:r>
            <a:r>
              <a:rPr lang="en-US" sz="18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1800" b="0" i="0" u="none" strike="noStrike" baseline="30000" dirty="0">
                <a:latin typeface="rntxmi7"/>
              </a:rPr>
              <a:t>n</a:t>
            </a:r>
            <a:r>
              <a:rPr lang="en-US" sz="1800" b="0" i="0" u="none" strike="noStrike" baseline="0" dirty="0">
                <a:latin typeface="rntxmi7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into another point </a:t>
            </a:r>
            <a:r>
              <a:rPr lang="en-US" sz="1800" b="1" i="0" u="none" strike="noStrike" baseline="0" dirty="0">
                <a:latin typeface="URWPalladioL-Bold"/>
              </a:rPr>
              <a:t>y </a:t>
            </a:r>
            <a:r>
              <a:rPr lang="en-US" sz="1800" b="0" i="0" u="none" strike="noStrike" baseline="0" dirty="0">
                <a:latin typeface="URWPalladioL-Roma"/>
              </a:rPr>
              <a:t>in the same space </a:t>
            </a:r>
            <a:r>
              <a:rPr lang="en-US" sz="18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1800" b="0" i="0" u="none" strike="noStrike" baseline="30000" dirty="0">
                <a:latin typeface="rntxmi7"/>
              </a:rPr>
              <a:t>n</a:t>
            </a:r>
            <a:r>
              <a:rPr lang="en-US" sz="1800" b="0" i="0" u="none" strike="noStrike" baseline="0" dirty="0">
                <a:latin typeface="URWPalladioL-Roma"/>
              </a:rPr>
              <a:t>.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However, this matrix multiplication cannot implement any arbitrary mapping between two spaces.</a:t>
            </a:r>
          </a:p>
          <a:p>
            <a:pPr algn="just"/>
            <a:r>
              <a:rPr lang="en-US" sz="1800" b="0" i="0" u="none" strike="noStrike" baseline="0" dirty="0">
                <a:latin typeface="URWPalladioL-Roma"/>
              </a:rPr>
              <a:t>The matrix multiplication actually can only implement a small subset of all possible mappings called </a:t>
            </a:r>
            <a:r>
              <a:rPr lang="en-US" sz="1800" b="1" i="0" u="none" strike="noStrike" baseline="0" dirty="0">
                <a:latin typeface="URWPalladioL-Ital"/>
              </a:rPr>
              <a:t>linear transformations</a:t>
            </a:r>
            <a:r>
              <a:rPr lang="en-US" sz="1800" b="0" i="0" u="none" strike="noStrike" baseline="0" dirty="0">
                <a:latin typeface="URWPalladioL-Roma"/>
              </a:rPr>
              <a:t>.</a:t>
            </a:r>
          </a:p>
          <a:p>
            <a:pPr algn="just"/>
            <a:r>
              <a:rPr lang="en-IN" sz="1800" b="0" i="0" u="none" strike="noStrike" baseline="0" dirty="0">
                <a:latin typeface="URWPalladioL-Roma"/>
              </a:rPr>
              <a:t>must satisfy two conditions: </a:t>
            </a:r>
            <a:r>
              <a:rPr lang="en-US" sz="1800" b="0" i="0" u="none" strike="noStrike" baseline="0" dirty="0">
                <a:latin typeface="URWPalladioL-Roma"/>
              </a:rPr>
              <a:t>(</a:t>
            </a:r>
            <a:r>
              <a:rPr lang="en-US" sz="1800" b="0" i="0" u="none" strike="noStrike" baseline="0" dirty="0" err="1">
                <a:latin typeface="URWPalladioL-Roma"/>
              </a:rPr>
              <a:t>i</a:t>
            </a:r>
            <a:r>
              <a:rPr lang="en-US" sz="1800" b="0" i="0" u="none" strike="noStrike" baseline="0" dirty="0">
                <a:latin typeface="URWPalladioL-Roma"/>
              </a:rPr>
              <a:t>) the origin in </a:t>
            </a:r>
            <a:r>
              <a:rPr lang="en-US" sz="18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1800" b="0" i="0" u="none" strike="noStrike" baseline="30000" dirty="0">
                <a:latin typeface="rntxmi7"/>
              </a:rPr>
              <a:t>n</a:t>
            </a:r>
            <a:r>
              <a:rPr lang="en-US" sz="1800" b="0" i="0" u="none" strike="noStrike" baseline="0" dirty="0">
                <a:latin typeface="rntxmi7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is mapped to the origin in </a:t>
            </a:r>
            <a:r>
              <a:rPr lang="en-US" sz="18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1800" b="0" i="0" u="none" strike="noStrike" baseline="30000" dirty="0">
                <a:latin typeface="rntxmi7"/>
              </a:rPr>
              <a:t>m</a:t>
            </a:r>
            <a:r>
              <a:rPr lang="en-US" sz="1800" b="0" i="0" u="none" strike="noStrike" baseline="0" dirty="0">
                <a:latin typeface="URWPalladioL-Roma"/>
              </a:rPr>
              <a:t>; (ii) every straight line in </a:t>
            </a:r>
            <a:r>
              <a:rPr lang="en-US" sz="18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1800" b="0" i="0" u="none" strike="noStrike" baseline="30000" dirty="0">
                <a:latin typeface="rntxmi7"/>
              </a:rPr>
              <a:t>n</a:t>
            </a:r>
            <a:r>
              <a:rPr lang="en-US" sz="1800" b="0" i="0" u="none" strike="noStrike" baseline="0" dirty="0">
                <a:latin typeface="rntxmi7"/>
              </a:rPr>
              <a:t> </a:t>
            </a:r>
            <a:r>
              <a:rPr lang="en-US" sz="1800" b="0" i="0" u="none" strike="noStrike" baseline="0" dirty="0">
                <a:latin typeface="URWPalladioL-Roma"/>
              </a:rPr>
              <a:t>is always mapped to a straight line (or a single point) in </a:t>
            </a:r>
            <a:r>
              <a:rPr lang="en-US" sz="18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1800" b="0" i="0" u="none" strike="noStrike" baseline="30000" dirty="0">
                <a:latin typeface="rntxmi7"/>
              </a:rPr>
              <a:t>m</a:t>
            </a:r>
            <a:r>
              <a:rPr lang="en-US" sz="1800" b="0" i="0" u="none" strike="noStrike" baseline="0" dirty="0">
                <a:latin typeface="URWPalladioL-Roma"/>
              </a:rPr>
              <a:t>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58036-B123-E9D4-2B7B-1C486D660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3B6AB-3ABC-6FFF-24C3-5FFE4C7DE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452B1-9364-4ED3-D4B3-A1FEF1F3F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AutoShape 4" descr="\mathbb {R} ">
            <a:extLst>
              <a:ext uri="{FF2B5EF4-FFF2-40B4-BE49-F238E27FC236}">
                <a16:creationId xmlns:a16="http://schemas.microsoft.com/office/drawing/2014/main" id="{FFEB6F53-C010-729F-86BF-890BCBC353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F2102E-0DC7-405B-427B-662DBE5DE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077025"/>
            <a:ext cx="3657600" cy="12645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9F60B6-941F-A896-3D40-4590B1698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293" y="670807"/>
            <a:ext cx="1519707" cy="257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587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B3CD-44D9-2FF0-149A-51C173825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Basic Matrix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57438-04F0-0EC2-712B-326255CEE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52488"/>
            <a:ext cx="8229600" cy="5273676"/>
          </a:xfrm>
        </p:spPr>
        <p:txBody>
          <a:bodyPr/>
          <a:lstStyle/>
          <a:p>
            <a:r>
              <a:rPr lang="en-IN" dirty="0"/>
              <a:t>Transpose and Inverse of a matrix: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83DC9-E2D9-3972-4DDC-9F87F4A8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25F3B-ECB7-C648-18D7-4EBED4F34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EC2E5-D2E5-C46E-E6D1-105033716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78AE6E-0359-88BD-1A0C-121C86687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36" y="1673469"/>
            <a:ext cx="4184054" cy="1209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6D78D8-4715-021A-0C20-5B707D09C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080" y="1757470"/>
            <a:ext cx="3530283" cy="11321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15CB6A-9929-AA00-E2A9-A5ABFCBE7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36" y="2851709"/>
            <a:ext cx="1621327" cy="11545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5D1A02-E053-7F79-6332-FF34431ADA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7944" y="3004750"/>
            <a:ext cx="3792467" cy="8052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CAB5CB-0F3F-5620-911B-F440C3753D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531" y="1390319"/>
            <a:ext cx="4256995" cy="28314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D671702-F699-F242-0AD1-6368F6C111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69482" y="3780466"/>
            <a:ext cx="6303472" cy="5194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BEA925E-B8A9-833F-34A1-FFE8678C67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37" y="4326828"/>
            <a:ext cx="7190170" cy="36512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2EDA966-B4C2-C155-952C-F51E49DED7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402" y="4752387"/>
            <a:ext cx="1327562" cy="94287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D19B6A7-A207-6A2D-A5B7-490FFDEF18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3908" y="4922139"/>
            <a:ext cx="2041080" cy="149155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7A56A6E-4CD5-405C-34E0-5ECD7E32AB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8502" y="4975383"/>
            <a:ext cx="1722650" cy="43066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16708E6-8D5F-F1E5-D37F-701C554C17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60932" y="5495245"/>
            <a:ext cx="3533458" cy="71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17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55241-D40B-305D-767A-A24BA1C1A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18" y="115743"/>
            <a:ext cx="8229600" cy="102076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Inner (Dot) Product and </a:t>
            </a:r>
            <a:r>
              <a:rPr lang="en-IN" b="1" i="1" dirty="0" err="1"/>
              <a:t>L</a:t>
            </a:r>
            <a:r>
              <a:rPr lang="en-IN" b="1" baseline="-25000" dirty="0" err="1"/>
              <a:t>p</a:t>
            </a:r>
            <a:r>
              <a:rPr lang="en-IN" b="1" dirty="0"/>
              <a:t> norm of vectors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9E11A14-34CD-542B-A9CE-F18E232AE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070" y="1284729"/>
            <a:ext cx="5583621" cy="164113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D365E-ED84-69A8-0810-073AD6142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234CC-2FB3-1DC4-86E2-C8B398A4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D7364-53C6-862A-1626-F5127D1D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EF0198-69FC-B02D-9D58-91F6D8660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260371"/>
            <a:ext cx="1832349" cy="12711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6FE922-F0B7-7363-0E28-E6E8B16AA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9" y="3049848"/>
            <a:ext cx="5477404" cy="14341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4348150-649D-1834-2671-D1F69059A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2691" y="3047702"/>
            <a:ext cx="3261441" cy="11139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373F7E-767A-7E7F-A2F8-028514EFEB3A}"/>
              </a:ext>
            </a:extLst>
          </p:cNvPr>
          <p:cNvSpPr txBox="1"/>
          <p:nvPr/>
        </p:nvSpPr>
        <p:spPr>
          <a:xfrm>
            <a:off x="50799" y="4536635"/>
            <a:ext cx="65182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L</a:t>
            </a:r>
            <a:r>
              <a:rPr lang="en-IN" sz="1400" baseline="-25000" dirty="0"/>
              <a:t>2</a:t>
            </a:r>
            <a:r>
              <a:rPr lang="en-IN" sz="1400" dirty="0"/>
              <a:t> (2</a:t>
            </a:r>
            <a:r>
              <a:rPr lang="en-IN" sz="1400" baseline="30000" dirty="0"/>
              <a:t>nd</a:t>
            </a:r>
            <a:r>
              <a:rPr lang="en-IN" sz="1400" dirty="0"/>
              <a:t>) norm is also called magnitude of a vector and it is used to normalize any vector </a:t>
            </a:r>
          </a:p>
          <a:p>
            <a:r>
              <a:rPr lang="en-IN" sz="1400" dirty="0"/>
              <a:t>and to find unit vector (vector with magnitude = 1); Normalized vector </a:t>
            </a:r>
            <a:r>
              <a:rPr lang="en-IN" sz="1400" b="1" dirty="0"/>
              <a:t>w</a:t>
            </a:r>
            <a:r>
              <a:rPr lang="en-IN" sz="1400" dirty="0"/>
              <a:t> = </a:t>
            </a:r>
            <a:r>
              <a:rPr lang="en-IN" sz="1400" b="1" dirty="0"/>
              <a:t>w</a:t>
            </a:r>
            <a:r>
              <a:rPr lang="en-IN" sz="1400" dirty="0"/>
              <a:t> / ||</a:t>
            </a:r>
            <a:r>
              <a:rPr lang="en-IN" sz="1400" b="1" dirty="0"/>
              <a:t>w</a:t>
            </a:r>
            <a:r>
              <a:rPr lang="en-IN" sz="1400" dirty="0"/>
              <a:t>||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5468434-DC05-2A27-DC25-8B373ADFDC1A}"/>
              </a:ext>
            </a:extLst>
          </p:cNvPr>
          <p:cNvGrpSpPr/>
          <p:nvPr/>
        </p:nvGrpSpPr>
        <p:grpSpPr>
          <a:xfrm>
            <a:off x="952055" y="5076949"/>
            <a:ext cx="3241675" cy="1593680"/>
            <a:chOff x="1646237" y="1374945"/>
            <a:chExt cx="3241675" cy="1593680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75F337C1-2F60-9519-6424-E59C30E0B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6237" y="1374945"/>
              <a:ext cx="3241675" cy="11788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0" tIns="0" rIns="0" bIns="39675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1" i="1" u="none" strike="noStrike" cap="none" normalizeH="0" baseline="0" dirty="0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In general: </a:t>
              </a:r>
              <a:r>
                <a:rPr kumimoji="0" lang="en-US" altLang="en-US" sz="1200" i="1" u="none" strike="noStrike" cap="none" normalizeH="0" baseline="0" dirty="0" err="1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L</a:t>
              </a:r>
              <a:r>
                <a:rPr kumimoji="0" lang="en-US" altLang="en-US" sz="1200" i="1" u="none" strike="noStrike" cap="none" normalizeH="0" baseline="-25000" dirty="0" err="1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p</a:t>
              </a:r>
              <a:r>
                <a:rPr kumimoji="0" lang="en-US" altLang="en-US" sz="1200" i="0" u="none" strike="noStrike" cap="none" normalizeH="0" baseline="0" dirty="0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-norm of vector</a:t>
              </a:r>
              <a:r>
                <a:rPr kumimoji="0" lang="en-US" altLang="en-US" sz="1200" b="1" i="0" u="none" strike="noStrike" cap="none" normalizeH="0" baseline="0" dirty="0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 x = </a:t>
              </a:r>
              <a:r>
                <a:rPr kumimoji="0" lang="en-US" altLang="en-US" sz="1200" i="0" u="none" strike="noStrike" cap="none" normalizeH="0" baseline="0" dirty="0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[x</a:t>
              </a:r>
              <a:r>
                <a:rPr kumimoji="0" lang="en-US" altLang="en-US" sz="1200" i="0" u="none" strike="noStrike" cap="none" normalizeH="0" baseline="-25000" dirty="0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1</a:t>
              </a:r>
              <a:r>
                <a:rPr kumimoji="0" lang="en-US" altLang="en-US" sz="1200" i="0" u="none" strike="noStrike" cap="none" normalizeH="0" baseline="0" dirty="0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, x</a:t>
              </a:r>
              <a:r>
                <a:rPr kumimoji="0" lang="en-US" altLang="en-US" sz="1200" i="0" u="none" strike="noStrike" cap="none" normalizeH="0" baseline="-25000" dirty="0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2</a:t>
              </a:r>
              <a:r>
                <a:rPr kumimoji="0" lang="en-US" altLang="en-US" sz="1200" i="0" u="none" strike="noStrike" cap="none" normalizeH="0" baseline="0" dirty="0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, ….., </a:t>
              </a:r>
              <a:r>
                <a:rPr kumimoji="0" lang="en-US" altLang="en-US" sz="1200" i="0" u="none" strike="noStrike" cap="none" normalizeH="0" baseline="0" dirty="0" err="1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x</a:t>
              </a:r>
              <a:r>
                <a:rPr kumimoji="0" lang="en-US" altLang="en-US" sz="1200" i="0" u="none" strike="noStrike" cap="none" normalizeH="0" baseline="-25000" dirty="0" err="1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n</a:t>
              </a:r>
              <a:r>
                <a:rPr kumimoji="0" lang="en-US" altLang="en-US" sz="1200" i="0" u="none" strike="noStrike" cap="none" normalizeH="0" baseline="0" dirty="0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]</a:t>
              </a:r>
              <a:r>
                <a:rPr kumimoji="0" lang="en-US" altLang="en-US" sz="1200" i="0" u="none" strike="noStrike" cap="none" normalizeH="0" baseline="30000" dirty="0">
                  <a:ln>
                    <a:noFill/>
                  </a:ln>
                  <a:solidFill>
                    <a:srgbClr val="101418"/>
                  </a:solidFill>
                  <a:effectLst/>
                  <a:latin typeface="inherit"/>
                </a:rPr>
                <a:t>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200" i="0" u="none" strike="noStrike" cap="none" normalizeH="0" baseline="30000" dirty="0">
                <a:ln>
                  <a:noFill/>
                </a:ln>
                <a:solidFill>
                  <a:srgbClr val="101418"/>
                </a:solidFill>
                <a:effectLst/>
                <a:latin typeface="inherit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b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</a:b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dirty="0"/>
                <a:t>p=1,2,……</a:t>
              </a:r>
              <a:r>
                <a:rPr lang="en-US" altLang="en-US" dirty="0">
                  <a:ea typeface="Calibri" panose="020F0502020204030204" pitchFamily="34" charset="0"/>
                  <a:cs typeface="Calibri" panose="020F0502020204030204" pitchFamily="34" charset="0"/>
                </a:rPr>
                <a:t>∞. </a:t>
              </a:r>
              <a:endPara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6F69959-9C2C-67EE-5E3C-5C4F5DFD122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04462" y="1672503"/>
              <a:ext cx="1628775" cy="48577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9726AB5-F963-06E5-950C-605EDDC61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39962" y="2692400"/>
              <a:ext cx="1266825" cy="276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4486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5C042-967B-176E-EADF-D17844B3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CAUCHY-SCHWARTZ (CS) INEQUALITY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258EB-9BA0-E61A-9B55-27CA675A1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325" y="1417639"/>
            <a:ext cx="8229600" cy="1858962"/>
          </a:xfrm>
        </p:spPr>
        <p:txBody>
          <a:bodyPr/>
          <a:lstStyle/>
          <a:p>
            <a:r>
              <a:rPr lang="en-IN" dirty="0"/>
              <a:t>Let </a:t>
            </a:r>
            <a:r>
              <a:rPr lang="en-IN" b="1" dirty="0"/>
              <a:t>x</a:t>
            </a:r>
            <a:r>
              <a:rPr lang="en-IN" dirty="0"/>
              <a:t> and </a:t>
            </a:r>
            <a:r>
              <a:rPr lang="en-IN" b="1" dirty="0"/>
              <a:t>y</a:t>
            </a:r>
            <a:r>
              <a:rPr lang="en-IN" dirty="0"/>
              <a:t> </a:t>
            </a:r>
            <a:r>
              <a:rPr lang="en-US" sz="3200" b="0" i="0" u="none" strike="noStrike" baseline="0" dirty="0">
                <a:latin typeface="txsys"/>
              </a:rPr>
              <a:t>∈ </a:t>
            </a:r>
            <a:r>
              <a:rPr lang="en-US" sz="3200" i="0" u="none" strike="noStrike" baseline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lonna MT" panose="04020805060202030203" pitchFamily="82" charset="0"/>
              </a:rPr>
              <a:t>R</a:t>
            </a:r>
            <a:r>
              <a:rPr lang="en-US" sz="3200" b="0" i="0" u="none" strike="noStrike" baseline="30000" dirty="0">
                <a:latin typeface="rntxmi7"/>
              </a:rPr>
              <a:t>n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The Cauchy-Schwartz inequality states that |</a:t>
            </a:r>
            <a:r>
              <a:rPr lang="en-IN" b="1" dirty="0" err="1"/>
              <a:t>x·y</a:t>
            </a:r>
            <a:r>
              <a:rPr lang="en-IN" dirty="0"/>
              <a:t>| ≤ ||</a:t>
            </a:r>
            <a:r>
              <a:rPr lang="en-IN" b="1" dirty="0"/>
              <a:t>x</a:t>
            </a:r>
            <a:r>
              <a:rPr lang="en-IN" dirty="0"/>
              <a:t>|| ||</a:t>
            </a:r>
            <a:r>
              <a:rPr lang="en-IN" b="1" dirty="0"/>
              <a:t>y</a:t>
            </a:r>
            <a:r>
              <a:rPr lang="en-IN" dirty="0"/>
              <a:t>||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4C765-04C8-8E77-C8E6-7FC9F8EC3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0DBD-FFB3-FC71-4F6E-4194DA074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0FE54-B746-748F-CB35-5F6E0BDC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" name="AutoShape 3" descr="{\displaystyle p\geq 1}">
            <a:extLst>
              <a:ext uri="{FF2B5EF4-FFF2-40B4-BE49-F238E27FC236}">
                <a16:creationId xmlns:a16="http://schemas.microsoft.com/office/drawing/2014/main" id="{03B6EF5F-4D27-957C-938B-DB163C8656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8325" y="164941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4" descr="{\displaystyle p}">
            <a:extLst>
              <a:ext uri="{FF2B5EF4-FFF2-40B4-BE49-F238E27FC236}">
                <a16:creationId xmlns:a16="http://schemas.microsoft.com/office/drawing/2014/main" id="{A099BCEC-F0A6-ACEE-356E-4BFC53251F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68575" y="164941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5" descr="{\displaystyle \ell ^{p}}">
            <a:extLst>
              <a:ext uri="{FF2B5EF4-FFF2-40B4-BE49-F238E27FC236}">
                <a16:creationId xmlns:a16="http://schemas.microsoft.com/office/drawing/2014/main" id="{3B9E25E1-6FBF-9129-01A6-BADAD8D28D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37038" y="164941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6" descr="{\displaystyle \mathbf {x} =(x_{1},\ldots ,x_{n})}">
            <a:extLst>
              <a:ext uri="{FF2B5EF4-FFF2-40B4-BE49-F238E27FC236}">
                <a16:creationId xmlns:a16="http://schemas.microsoft.com/office/drawing/2014/main" id="{8A995F3C-1B01-A612-9072-63EC85DF53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73738" y="164941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7" descr="{\displaystyle \|\mathbf {x} \|_{p}:={\biggl (}\sum _{i=1}^{n}\left|x_{i}\right|^{p}{\biggr )}^{1/p}.}">
            <a:extLst>
              <a:ext uri="{FF2B5EF4-FFF2-40B4-BE49-F238E27FC236}">
                <a16:creationId xmlns:a16="http://schemas.microsoft.com/office/drawing/2014/main" id="{DCE92F21-8B83-22E8-F4C9-47A085C46A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72238" y="164941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9" descr="{\displaystyle \mathbf {x} =(x_{1},\ldots ,x_{n})}">
            <a:extLst>
              <a:ext uri="{FF2B5EF4-FFF2-40B4-BE49-F238E27FC236}">
                <a16:creationId xmlns:a16="http://schemas.microsoft.com/office/drawing/2014/main" id="{E4B678D2-ECE7-A8B1-5292-5815F71930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0638" y="3478581"/>
            <a:ext cx="1524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8330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E0C9B-5B91-8444-FD8C-384531544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4772A-8BFB-57AF-0CC0-5CAB9FFED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19043-D854-CD39-5733-3A84BC74D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C1FA7-0DB6-1827-AB11-6969EFBD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9E316-676F-D0E1-ABAB-20155ABD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A14D31-E654-307E-9625-BA601F40F7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075"/>
          <a:stretch>
            <a:fillRect/>
          </a:stretch>
        </p:blipFill>
        <p:spPr>
          <a:xfrm>
            <a:off x="1447800" y="3080112"/>
            <a:ext cx="4411302" cy="22834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173461-A16A-7B4D-0266-CA7B0A7B0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616723"/>
            <a:ext cx="6663964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909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0527-B09E-AAF6-BF72-02D8D60A3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127" y="0"/>
            <a:ext cx="8229600" cy="1020762"/>
          </a:xfrm>
        </p:spPr>
        <p:txBody>
          <a:bodyPr>
            <a:normAutofit/>
          </a:bodyPr>
          <a:lstStyle/>
          <a:p>
            <a:r>
              <a:rPr lang="en-IN" b="1" dirty="0"/>
              <a:t>Trace of a Matrix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C9B4990-A377-98D5-1DA0-7D0711726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0861" y="1020762"/>
            <a:ext cx="6411508" cy="14938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8ADD1-90D9-CEE0-8EF8-36889367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5BA65-0F78-64E0-925B-955DB6FA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71A85-8F36-5DA2-BC85-3D3ADFBD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CCCAA4-E630-BF2B-7AAB-0E3A2F25A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609" y="2280830"/>
            <a:ext cx="3812011" cy="412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205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BB216-626B-0596-E726-4E09052E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7793"/>
            <a:ext cx="8229600" cy="1095375"/>
          </a:xfrm>
        </p:spPr>
        <p:txBody>
          <a:bodyPr/>
          <a:lstStyle/>
          <a:p>
            <a:r>
              <a:rPr lang="en-IN" b="1" dirty="0"/>
              <a:t>Eigen Values and Eigen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883A9-2205-FA44-3A87-75EAB1533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582599"/>
            <a:ext cx="8382000" cy="2087002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IN" dirty="0"/>
              <a:t>Solve: |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I-A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= 0 to get Eigen values (get n Eigen values for n x n matrix);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 x n identity matrix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Eigen value use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get corresponding Eigen vectors and normalize it such that ||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=1</a:t>
            </a:r>
            <a:endParaRPr lang="en-IN" dirty="0"/>
          </a:p>
          <a:p>
            <a:pPr algn="just"/>
            <a:r>
              <a:rPr lang="en-IN" dirty="0"/>
              <a:t>For symmetric real matrix, </a:t>
            </a:r>
            <a:r>
              <a:rPr lang="en-US" dirty="0"/>
              <a:t>the eigenvalues are always real and corresponding </a:t>
            </a:r>
            <a:r>
              <a:rPr lang="en-IN" dirty="0"/>
              <a:t>eigen vectors are always orthogonal to each other.</a:t>
            </a:r>
          </a:p>
          <a:p>
            <a:pPr algn="just"/>
            <a:r>
              <a:rPr lang="en-IN" dirty="0"/>
              <a:t>In general for any matrix </a:t>
            </a:r>
            <a:r>
              <a:rPr lang="en-IN" b="1" dirty="0"/>
              <a:t>A</a:t>
            </a:r>
            <a:r>
              <a:rPr lang="en-IN" dirty="0"/>
              <a:t>, eigenvalues are complex and corresponding  eigenvectors are not always orthogonal.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C52D5-B2AE-CCB3-8E88-BB0B427C7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2F8C5-21BB-357D-39AC-B8CF3F388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6BD0-A33A-EC0F-2240-B05797C0D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E8D839-3838-E4B1-C7DA-ADD4B68B0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833" y="780551"/>
            <a:ext cx="6418384" cy="2286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EF57BF-FA15-BE46-0683-1AE9AEFA1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833" y="3167840"/>
            <a:ext cx="6673216" cy="5941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AEE11-84A4-CFD6-7239-D2654EF9C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336" y="3787142"/>
            <a:ext cx="6786210" cy="82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00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D52FD-3289-A0E5-4CD6-239D941F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509" y="27709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Eigen Values and Eigen Vectors: Eigen Value Decomposition (EVD)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071F7-79E1-7008-3116-0C02A9760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24899-F2F5-FB00-8D1B-935E8A754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18060-F83C-1A1D-BB2A-B7BD5C7F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8AEDC-FC50-4F09-3FCC-A75B1B9D6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14D793-FB25-468D-4295-5B95D5408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436" y="2557002"/>
            <a:ext cx="5670838" cy="17245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D4DDE3-B2CD-8B24-1727-ECC7A35D8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93" y="4091709"/>
            <a:ext cx="5910332" cy="27455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42507A-3D7A-10C6-EFD2-47CFF63C5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491" y="5319399"/>
            <a:ext cx="2765808" cy="12580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B480978-8A1F-A009-B81F-67CF4B772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630" y="1507428"/>
            <a:ext cx="4064907" cy="8222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03EBB4-DEF7-F796-0ACC-4DF93EB269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92" y="1263481"/>
            <a:ext cx="4670754" cy="12901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5E1DBA-31D7-A09D-A65A-632A45632D48}"/>
              </a:ext>
            </a:extLst>
          </p:cNvPr>
          <p:cNvSpPr txBox="1"/>
          <p:nvPr/>
        </p:nvSpPr>
        <p:spPr>
          <a:xfrm>
            <a:off x="3797637" y="6488668"/>
            <a:ext cx="2870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; </a:t>
            </a:r>
            <a:r>
              <a:rPr lang="en-IN" b="1" dirty="0"/>
              <a:t>U</a:t>
            </a:r>
            <a:r>
              <a:rPr lang="en-IN" dirty="0"/>
              <a:t> is orthogonal matrix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48C945-D930-1E86-6B8C-59EE4DC80102}"/>
              </a:ext>
            </a:extLst>
          </p:cNvPr>
          <p:cNvSpPr txBox="1"/>
          <p:nvPr/>
        </p:nvSpPr>
        <p:spPr>
          <a:xfrm>
            <a:off x="2702753" y="1411901"/>
            <a:ext cx="2135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(A</a:t>
            </a:r>
            <a:r>
              <a:rPr lang="en-IN" sz="1400" dirty="0"/>
              <a:t> is real symmetric matrix</a:t>
            </a:r>
          </a:p>
          <a:p>
            <a:r>
              <a:rPr lang="en-IN" sz="1400" dirty="0"/>
              <a:t> with distinct Eigen Values)</a:t>
            </a:r>
          </a:p>
        </p:txBody>
      </p:sp>
    </p:spTree>
    <p:extLst>
      <p:ext uri="{BB962C8B-B14F-4D97-AF65-F5344CB8AC3E}">
        <p14:creationId xmlns:p14="http://schemas.microsoft.com/office/powerpoint/2010/main" val="1045732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26C3A-0C4B-E546-4E1D-469C343C5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b="1" dirty="0"/>
              <a:t>Matrix Calculus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7FD51-9FE7-35B0-F22B-5412AB400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21A35-1F25-19E3-117E-4AFB95888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3722E-22CA-7ECB-B52F-1EED360E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B116-0722-6980-1D87-FDBEE07D0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9392A2-ACB8-01B9-E6BD-0128B0FDF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044017"/>
            <a:ext cx="5972643" cy="51352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4A22FD-1B91-9107-D06B-A1FFA3B52604}"/>
              </a:ext>
            </a:extLst>
          </p:cNvPr>
          <p:cNvSpPr txBox="1"/>
          <p:nvPr/>
        </p:nvSpPr>
        <p:spPr>
          <a:xfrm>
            <a:off x="6553200" y="3493849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 = f(</a:t>
            </a:r>
            <a:r>
              <a:rPr lang="en-IN" b="1" dirty="0"/>
              <a:t>x</a:t>
            </a:r>
            <a:r>
              <a:rPr lang="en-IN" dirty="0"/>
              <a:t>) or y = f(</a:t>
            </a:r>
            <a:r>
              <a:rPr lang="en-IN" b="1" dirty="0"/>
              <a:t>A</a:t>
            </a:r>
            <a:r>
              <a:rPr lang="en-IN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C912F0-AEC8-BF2B-4D9F-046725AD6546}"/>
              </a:ext>
            </a:extLst>
          </p:cNvPr>
          <p:cNvSpPr txBox="1"/>
          <p:nvPr/>
        </p:nvSpPr>
        <p:spPr>
          <a:xfrm>
            <a:off x="1204242" y="5983445"/>
            <a:ext cx="3299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(Gradient vector of function y=f(</a:t>
            </a:r>
            <a:r>
              <a:rPr lang="en-IN" sz="1600" b="1" dirty="0"/>
              <a:t>x</a:t>
            </a:r>
            <a:r>
              <a:rPr lang="en-I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5847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34EB-5F44-EE4B-E9AD-E8031B0C5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Matrix Calculus Identities for 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254F2-9ECD-EC89-EFCD-24AE4126B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AB6DB-77B0-7818-69F1-6AB466D24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1D158-8EEC-9816-582F-6F6D68101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464BB-64C2-57C1-3DBB-5EF4FA0D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9C0AB5-3C58-ED82-6B57-416245D0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288"/>
          <a:stretch>
            <a:fillRect/>
          </a:stretch>
        </p:blipFill>
        <p:spPr>
          <a:xfrm>
            <a:off x="1625269" y="1370012"/>
            <a:ext cx="6309798" cy="3201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800AE6-A56E-E346-8231-FB74EE47FF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000" t="34001" r="25833" b="55333"/>
          <a:stretch/>
        </p:blipFill>
        <p:spPr>
          <a:xfrm>
            <a:off x="1152331" y="4931393"/>
            <a:ext cx="7543800" cy="14719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DF2B8F-29F9-B0EC-8DCE-269289A80B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833" t="22001" r="49167" b="75333"/>
          <a:stretch/>
        </p:blipFill>
        <p:spPr>
          <a:xfrm>
            <a:off x="1447800" y="4710701"/>
            <a:ext cx="1552572" cy="25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38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CE4AA-37FB-F6D7-D7C9-F7DAB457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Assignment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A2D54-FE8E-2B03-6878-B001EB46F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Solve Exercise Problems:</a:t>
            </a:r>
          </a:p>
          <a:p>
            <a:pPr lvl="1"/>
            <a:r>
              <a:rPr lang="en-IN" dirty="0"/>
              <a:t>Q2.1 to Q2.4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A08A8-BA0A-CB99-C797-030255B8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C43A0-D80C-5800-D0A5-DC66227E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33E07-D188-14E2-9011-540F22C55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95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746-8414-7D59-08DC-16E7D14A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508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Work 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70D-C7B7-1CE0-2635-D231E485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17526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Assignment Problem Statement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Solution (Handwritten)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E0E-8BBD-5799-62BD-D950E044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06-01-2026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F78C-28FD-E9E0-F483-60F85C82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BF50-6222-095C-1283-15DE7B2C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18A83D8036314F9AD3D552E201887A" ma:contentTypeVersion="0" ma:contentTypeDescription="Create a new document." ma:contentTypeScope="" ma:versionID="d972b4720b182aa87360edfc2a079f8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84c390a07b92f3072bc78982b6f0c3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7DDC61-409A-4530-9A88-13BC0FE78228}"/>
</file>

<file path=customXml/itemProps2.xml><?xml version="1.0" encoding="utf-8"?>
<ds:datastoreItem xmlns:ds="http://schemas.openxmlformats.org/officeDocument/2006/customXml" ds:itemID="{8998C2AA-4108-4FED-A8F7-DC1BC70FBCCE}"/>
</file>

<file path=customXml/itemProps3.xml><?xml version="1.0" encoding="utf-8"?>
<ds:datastoreItem xmlns:ds="http://schemas.openxmlformats.org/officeDocument/2006/customXml" ds:itemID="{632226D7-A6EA-443B-9C18-CE773BB5D01D}"/>
</file>

<file path=docProps/app.xml><?xml version="1.0" encoding="utf-8"?>
<Properties xmlns="http://schemas.openxmlformats.org/officeDocument/2006/extended-properties" xmlns:vt="http://schemas.openxmlformats.org/officeDocument/2006/docPropsVTypes">
  <TotalTime>4459</TotalTime>
  <Words>1103</Words>
  <Application>Microsoft Office PowerPoint</Application>
  <PresentationFormat>On-screen Show (4:3)</PresentationFormat>
  <Paragraphs>120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3" baseType="lpstr">
      <vt:lpstr>Arial</vt:lpstr>
      <vt:lpstr>Calibri</vt:lpstr>
      <vt:lpstr>CMR10</vt:lpstr>
      <vt:lpstr>Colonna MT</vt:lpstr>
      <vt:lpstr>inherit</vt:lpstr>
      <vt:lpstr>NimbusRomNo9L-ReguItal</vt:lpstr>
      <vt:lpstr>PazoMathBlackboardBold</vt:lpstr>
      <vt:lpstr>rntxmi7</vt:lpstr>
      <vt:lpstr>Tahoma</vt:lpstr>
      <vt:lpstr>Times New Roman</vt:lpstr>
      <vt:lpstr>txsys</vt:lpstr>
      <vt:lpstr>URWPalladioL-Bold</vt:lpstr>
      <vt:lpstr>URWPalladioL-Ital</vt:lpstr>
      <vt:lpstr>URWPalladioL-Roma</vt:lpstr>
      <vt:lpstr>Office Theme</vt:lpstr>
      <vt:lpstr>PowerPoint Presentation</vt:lpstr>
      <vt:lpstr>Assignment 1:  Mathematical Preliminaries - I:  Linear Algebra </vt:lpstr>
      <vt:lpstr>Ref.: </vt:lpstr>
      <vt:lpstr>Notations</vt:lpstr>
      <vt:lpstr>Summary of the General Notation Rules</vt:lpstr>
      <vt:lpstr>Vectors and Matrices</vt:lpstr>
      <vt:lpstr>Linear Transformation as Matrix Multiplication</vt:lpstr>
      <vt:lpstr>Basic Matrix Operations</vt:lpstr>
      <vt:lpstr>Inner (Dot) Product and Lp norm of vectors</vt:lpstr>
      <vt:lpstr>CAUCHY-SCHWARTZ (CS) INEQUALITY</vt:lpstr>
      <vt:lpstr>Example:</vt:lpstr>
      <vt:lpstr>Trace of a Matrix</vt:lpstr>
      <vt:lpstr>Eigen Values and Eigen Vectors</vt:lpstr>
      <vt:lpstr>Eigen Values and Eigen Vectors: Eigen Value Decomposition (EVD)</vt:lpstr>
      <vt:lpstr>Matrix Calculus</vt:lpstr>
      <vt:lpstr>Matrix Calculus Identities for ML</vt:lpstr>
      <vt:lpstr>Assignment 1</vt:lpstr>
      <vt:lpstr>Work Flow: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536</cp:revision>
  <dcterms:created xsi:type="dcterms:W3CDTF">2006-08-16T00:00:00Z</dcterms:created>
  <dcterms:modified xsi:type="dcterms:W3CDTF">2026-01-06T06:42:01Z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0x010100B218A83D8036314F9AD3D552E201887A</vt:lpwstr>
  </property>
</Properties>
</file>