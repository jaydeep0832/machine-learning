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4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15-07-2025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15-07-2025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15-07-2025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66019" y="3006475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1: </a:t>
            </a:r>
            <a:r>
              <a:rPr lang="en-IN" sz="3600" dirty="0"/>
              <a:t>Basic Linear Algebra in Python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750973" y="1986607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9751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Basic Linear Algebra in Python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Use </a:t>
            </a:r>
            <a:r>
              <a:rPr lang="en-IN" b="1" dirty="0" err="1"/>
              <a:t>Numpy</a:t>
            </a:r>
            <a:r>
              <a:rPr lang="en-IN" b="1" dirty="0"/>
              <a:t> library functions and methods to complete given tasks.</a:t>
            </a:r>
          </a:p>
          <a:p>
            <a:r>
              <a:rPr lang="en-IN" dirty="0"/>
              <a:t>Given: </a:t>
            </a:r>
            <a:r>
              <a:rPr lang="en-US" sz="3200" b="1" i="0" u="none" strike="noStrike" baseline="0" dirty="0">
                <a:latin typeface="URWPalladioL-Bold"/>
              </a:rPr>
              <a:t>x </a:t>
            </a:r>
            <a:r>
              <a:rPr lang="en-US" sz="3200" b="0" i="0" u="none" strike="noStrike" baseline="0" dirty="0">
                <a:latin typeface="txsys"/>
              </a:rPr>
              <a:t>∈ </a:t>
            </a:r>
            <a:r>
              <a:rPr lang="en-US" sz="32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32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32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 ; </a:t>
            </a:r>
            <a:r>
              <a:rPr lang="en-US" sz="3200" b="1" i="0" u="none" strike="noStrike" baseline="0" dirty="0">
                <a:latin typeface="URWPalladioL-Bold"/>
              </a:rPr>
              <a:t>A </a:t>
            </a:r>
            <a:r>
              <a:rPr lang="en-US" sz="3200" b="0" i="0" u="none" strike="noStrike" baseline="0" dirty="0">
                <a:latin typeface="txsys"/>
              </a:rPr>
              <a:t>∈ </a:t>
            </a:r>
            <a:r>
              <a:rPr lang="en-US" sz="32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32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 x n; </a:t>
            </a:r>
            <a:r>
              <a:rPr lang="en-US" sz="3200" b="1" i="0" u="none" strike="noStrike" baseline="0" dirty="0">
                <a:latin typeface="URWPalladioL-Bold"/>
              </a:rPr>
              <a:t>B </a:t>
            </a:r>
            <a:r>
              <a:rPr lang="en-US" sz="3200" b="0" i="0" u="none" strike="noStrike" baseline="0" dirty="0">
                <a:latin typeface="txsys"/>
              </a:rPr>
              <a:t>∈ </a:t>
            </a:r>
            <a:r>
              <a:rPr lang="en-US" sz="32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32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 x n</a:t>
            </a:r>
          </a:p>
          <a:p>
            <a:r>
              <a:rPr lang="en-US" dirty="0"/>
              <a:t>Read dimension of all variables and their values from keyboard. </a:t>
            </a:r>
          </a:p>
          <a:p>
            <a:r>
              <a:rPr lang="en-US" dirty="0"/>
              <a:t>Find and Display:</a:t>
            </a:r>
          </a:p>
          <a:p>
            <a:pPr lvl="1"/>
            <a:r>
              <a:rPr lang="en-US" sz="2800" b="1" i="0" u="none" strike="noStrike" baseline="0" dirty="0">
                <a:latin typeface="URWPalladioL-Bold"/>
              </a:rPr>
              <a:t>A</a:t>
            </a:r>
            <a:r>
              <a:rPr lang="en-US" sz="2800" b="1" i="0" u="none" strike="noStrike" baseline="30000" dirty="0">
                <a:latin typeface="URWPalladioL-Bold"/>
              </a:rPr>
              <a:t>T </a:t>
            </a:r>
            <a:r>
              <a:rPr lang="en-US" sz="2800" b="1" i="0" u="none" strike="noStrike" dirty="0">
                <a:latin typeface="URWPalladioL-Bold"/>
              </a:rPr>
              <a:t> and B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</a:p>
          <a:p>
            <a:pPr lvl="1"/>
            <a:r>
              <a:rPr lang="en-US" sz="2800" b="1" i="0" u="none" strike="noStrike" baseline="0" dirty="0">
                <a:latin typeface="URWPalladioL-Bold"/>
              </a:rPr>
              <a:t>AB</a:t>
            </a:r>
          </a:p>
          <a:p>
            <a:pPr lvl="1"/>
            <a:r>
              <a:rPr lang="en-US" sz="2800" b="1" i="0" u="none" strike="noStrike" dirty="0">
                <a:latin typeface="URWPalladioL-Bold"/>
              </a:rPr>
              <a:t>Verify (</a:t>
            </a:r>
            <a:r>
              <a:rPr lang="en-US" sz="2800" b="1" i="0" u="none" strike="noStrike" baseline="0" dirty="0">
                <a:latin typeface="URWPalladioL-Bold"/>
              </a:rPr>
              <a:t>AB)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baseline="0" dirty="0">
                <a:latin typeface="URWPalladioL-Bold"/>
              </a:rPr>
              <a:t> = B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baseline="0" dirty="0">
                <a:latin typeface="URWPalladioL-Bold"/>
              </a:rPr>
              <a:t> A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</a:p>
          <a:p>
            <a:pPr lvl="1"/>
            <a:r>
              <a:rPr lang="en-US" sz="2800" b="1" i="0" u="none" strike="noStrike" baseline="0" dirty="0">
                <a:latin typeface="URWPalladioL-Bold"/>
              </a:rPr>
              <a:t>|A | and | B |</a:t>
            </a:r>
          </a:p>
          <a:p>
            <a:pPr lvl="1"/>
            <a:r>
              <a:rPr lang="en-US" sz="2800" b="1" i="0" u="none" strike="noStrike" dirty="0">
                <a:latin typeface="URWPalladioL-Bold"/>
              </a:rPr>
              <a:t>Check for singularity of A and B</a:t>
            </a:r>
          </a:p>
          <a:p>
            <a:pPr lvl="1"/>
            <a:r>
              <a:rPr lang="en-US" sz="2800" b="1" i="0" u="none" strike="noStrike" dirty="0">
                <a:latin typeface="URWPalladioL-Bold"/>
              </a:rPr>
              <a:t>Find </a:t>
            </a:r>
            <a:r>
              <a:rPr lang="en-US" sz="2800" b="1" i="0" u="none" strike="noStrike" baseline="0" dirty="0">
                <a:latin typeface="URWPalladioL-Bold"/>
              </a:rPr>
              <a:t>A</a:t>
            </a:r>
            <a:r>
              <a:rPr lang="en-US" sz="2800" b="1" i="0" u="none" strike="noStrike" baseline="30000" dirty="0">
                <a:latin typeface="URWPalladioL-Bold"/>
              </a:rPr>
              <a:t>-1 </a:t>
            </a:r>
            <a:r>
              <a:rPr lang="en-US" sz="2800" b="1" i="0" u="none" strike="noStrike" dirty="0">
                <a:latin typeface="URWPalladioL-Bold"/>
              </a:rPr>
              <a:t>and</a:t>
            </a:r>
            <a:r>
              <a:rPr lang="en-US" sz="2800" b="1" i="0" u="none" strike="noStrike" baseline="30000" dirty="0">
                <a:latin typeface="URWPalladioL-Bold"/>
              </a:rPr>
              <a:t> </a:t>
            </a:r>
            <a:r>
              <a:rPr lang="en-US" sz="2800" b="1" i="0" u="none" strike="noStrike" baseline="0" dirty="0">
                <a:latin typeface="URWPalladioL-Bold"/>
              </a:rPr>
              <a:t>B</a:t>
            </a:r>
            <a:r>
              <a:rPr lang="en-US" sz="2800" b="1" i="0" u="none" strike="noStrike" baseline="30000" dirty="0">
                <a:latin typeface="URWPalladioL-Bold"/>
              </a:rPr>
              <a:t>-1 </a:t>
            </a:r>
            <a:r>
              <a:rPr lang="en-US" sz="2800" b="1" i="0" u="none" strike="noStrike" dirty="0">
                <a:latin typeface="URWPalladioL-Bold"/>
              </a:rPr>
              <a:t>(if possible) (Take different values of A and B if not possible)</a:t>
            </a:r>
          </a:p>
          <a:p>
            <a:pPr lvl="1"/>
            <a:r>
              <a:rPr lang="en-US" b="1" dirty="0">
                <a:latin typeface="URWPalladioL-Bold"/>
              </a:rPr>
              <a:t>Verify AA</a:t>
            </a:r>
            <a:r>
              <a:rPr lang="en-US" b="1" baseline="30000" dirty="0">
                <a:latin typeface="URWPalladioL-Bold"/>
              </a:rPr>
              <a:t>-1</a:t>
            </a:r>
            <a:r>
              <a:rPr lang="en-US" b="1" dirty="0">
                <a:latin typeface="URWPalladioL-Bold"/>
              </a:rPr>
              <a:t> = I and A</a:t>
            </a:r>
            <a:r>
              <a:rPr lang="en-US" b="1" baseline="30000" dirty="0">
                <a:latin typeface="URWPalladioL-Bold"/>
              </a:rPr>
              <a:t>-1</a:t>
            </a:r>
            <a:r>
              <a:rPr lang="en-US" b="1" dirty="0">
                <a:latin typeface="URWPalladioL-Bold"/>
              </a:rPr>
              <a:t>A = I</a:t>
            </a:r>
            <a:endParaRPr lang="en-US" sz="2800" b="1" i="0" u="none" strike="noStrike" dirty="0">
              <a:latin typeface="URWPalladioL-Bold"/>
            </a:endParaRPr>
          </a:p>
          <a:p>
            <a:pPr lvl="1"/>
            <a:r>
              <a:rPr lang="en-US" sz="2800" b="1" i="0" u="none" strike="noStrike" dirty="0">
                <a:latin typeface="URWPalladioL-Bold"/>
              </a:rPr>
              <a:t>Trace of A and B, A</a:t>
            </a:r>
            <a:r>
              <a:rPr lang="en-US" sz="2800" b="1" i="0" u="none" strike="noStrike" baseline="30000" dirty="0">
                <a:latin typeface="URWPalladioL-Bold"/>
              </a:rPr>
              <a:t>-1</a:t>
            </a:r>
            <a:r>
              <a:rPr lang="en-US" sz="2800" b="1" i="0" u="none" strike="noStrike" dirty="0">
                <a:latin typeface="URWPalladioL-Bold"/>
              </a:rPr>
              <a:t> and B</a:t>
            </a:r>
            <a:r>
              <a:rPr lang="en-US" sz="2800" b="1" i="0" u="none" strike="noStrike" baseline="30000" dirty="0">
                <a:latin typeface="URWPalladioL-Bold"/>
              </a:rPr>
              <a:t>-1</a:t>
            </a:r>
            <a:r>
              <a:rPr lang="en-US" sz="2800" b="1" i="0" u="none" strike="noStrike" dirty="0">
                <a:latin typeface="URWPalladioL-Bold"/>
              </a:rPr>
              <a:t>, A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dirty="0">
                <a:latin typeface="URWPalladioL-Bold"/>
              </a:rPr>
              <a:t> and B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</a:p>
          <a:p>
            <a:pPr lvl="1"/>
            <a:r>
              <a:rPr lang="en-US" b="1" dirty="0">
                <a:latin typeface="URWPalladioL-Bold"/>
              </a:rPr>
              <a:t>Verify trace (AB) = trace (BA)</a:t>
            </a:r>
          </a:p>
          <a:p>
            <a:pPr lvl="1"/>
            <a:r>
              <a:rPr lang="en-US" sz="2800" b="1" i="0" u="none" strike="noStrike" dirty="0">
                <a:latin typeface="URWPalladioL-Bold"/>
              </a:rPr>
              <a:t>Verify trace(A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dirty="0">
                <a:latin typeface="URWPalladioL-Bold"/>
              </a:rPr>
              <a:t>B) = trace(AB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dirty="0">
                <a:latin typeface="URWPalladioL-Bold"/>
              </a:rPr>
              <a:t>) = trace(BA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dirty="0">
                <a:latin typeface="URWPalladioL-Bold"/>
              </a:rPr>
              <a:t>) =trace(B</a:t>
            </a:r>
            <a:r>
              <a:rPr lang="en-US" sz="2800" b="1" i="0" u="none" strike="noStrike" baseline="30000" dirty="0">
                <a:latin typeface="URWPalladioL-Bold"/>
              </a:rPr>
              <a:t>T</a:t>
            </a:r>
            <a:r>
              <a:rPr lang="en-US" sz="2800" b="1" i="0" u="none" strike="noStrike" dirty="0">
                <a:latin typeface="URWPalladioL-Bold"/>
              </a:rPr>
              <a:t>A)</a:t>
            </a:r>
          </a:p>
          <a:p>
            <a:pPr lvl="1"/>
            <a:endParaRPr lang="en-US" sz="2800" b="1" i="0" u="none" strike="noStrike" baseline="30000" dirty="0">
              <a:latin typeface="URWPalladioL-Bold"/>
            </a:endParaRPr>
          </a:p>
          <a:p>
            <a:pPr lvl="1"/>
            <a:r>
              <a:rPr lang="en-US" sz="2800" b="1" i="0" u="none" strike="noStrike" baseline="0" dirty="0">
                <a:latin typeface="URWPalladioL-Bold"/>
              </a:rPr>
              <a:t>y =  Ax; y </a:t>
            </a:r>
            <a:r>
              <a:rPr lang="en-US" sz="2800" b="0" i="0" u="none" strike="noStrike" baseline="0" dirty="0">
                <a:latin typeface="txsys"/>
              </a:rPr>
              <a:t>∈ </a:t>
            </a:r>
            <a:r>
              <a:rPr lang="en-US" sz="2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28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8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 </a:t>
            </a:r>
          </a:p>
          <a:p>
            <a:pPr lvl="1"/>
            <a:r>
              <a:rPr lang="en-US" sz="2700" b="1" dirty="0">
                <a:latin typeface="URWPalladioL-Bold"/>
              </a:rPr>
              <a:t>Retrieve x from y</a:t>
            </a:r>
          </a:p>
          <a:p>
            <a:pPr lvl="1"/>
            <a:r>
              <a:rPr lang="en-US" sz="2700" b="1" dirty="0">
                <a:latin typeface="URWPalladioL-Bold"/>
              </a:rPr>
              <a:t>Inner product of x and y and verify they are orthogonal or not</a:t>
            </a:r>
          </a:p>
          <a:p>
            <a:pPr lvl="1"/>
            <a:r>
              <a:rPr lang="en-US" sz="2700" b="1" dirty="0">
                <a:latin typeface="URWPalladioL-Bold"/>
              </a:rPr>
              <a:t>Norm of x and y</a:t>
            </a:r>
          </a:p>
          <a:p>
            <a:pPr lvl="1"/>
            <a:r>
              <a:rPr lang="en-US" sz="2700" b="1" dirty="0">
                <a:latin typeface="URWPalladioL-Bold"/>
              </a:rPr>
              <a:t>Normalize x and y</a:t>
            </a:r>
          </a:p>
          <a:p>
            <a:pPr lvl="1"/>
            <a:r>
              <a:rPr lang="en-US" sz="2700" b="1" dirty="0">
                <a:latin typeface="URWPalladioL-Bold"/>
              </a:rPr>
              <a:t>Verify CS inequality for x and y</a:t>
            </a:r>
          </a:p>
          <a:p>
            <a:pPr lvl="1"/>
            <a:r>
              <a:rPr lang="en-US" sz="2700" b="1" dirty="0">
                <a:latin typeface="URWPalladioL-Bold"/>
              </a:rPr>
              <a:t>Verify </a:t>
            </a:r>
            <a:r>
              <a:rPr lang="en-US" sz="2700" b="1" dirty="0" err="1">
                <a:latin typeface="URWPalladioL-Bold"/>
              </a:rPr>
              <a:t>x</a:t>
            </a:r>
            <a:r>
              <a:rPr lang="en-US" sz="2700" b="1" baseline="30000" dirty="0" err="1">
                <a:latin typeface="URWPalladioL-Bold"/>
              </a:rPr>
              <a:t>T</a:t>
            </a:r>
            <a:r>
              <a:rPr lang="en-US" sz="2700" b="1" dirty="0" err="1">
                <a:latin typeface="URWPalladioL-Bold"/>
              </a:rPr>
              <a:t>y</a:t>
            </a:r>
            <a:r>
              <a:rPr lang="en-US" sz="2700" b="1" dirty="0">
                <a:latin typeface="URWPalladioL-Bold"/>
              </a:rPr>
              <a:t> = </a:t>
            </a:r>
            <a:r>
              <a:rPr lang="en-US" sz="2700" b="1" dirty="0" err="1">
                <a:latin typeface="URWPalladioL-Bold"/>
              </a:rPr>
              <a:t>y</a:t>
            </a:r>
            <a:r>
              <a:rPr lang="en-US" sz="2700" b="1" baseline="30000" dirty="0" err="1">
                <a:latin typeface="URWPalladioL-Bold"/>
              </a:rPr>
              <a:t>T</a:t>
            </a:r>
            <a:r>
              <a:rPr lang="en-US" sz="2700" b="1" dirty="0" err="1">
                <a:latin typeface="URWPalladioL-Bold"/>
              </a:rPr>
              <a:t>x</a:t>
            </a:r>
            <a:endParaRPr lang="en-US" sz="2700" b="1" dirty="0">
              <a:latin typeface="URWPalladioL-Bold"/>
            </a:endParaRPr>
          </a:p>
          <a:p>
            <a:pPr lvl="1"/>
            <a:r>
              <a:rPr lang="en-US" sz="2700" b="1" dirty="0">
                <a:latin typeface="URWPalladioL-Bold"/>
              </a:rPr>
              <a:t>Verify </a:t>
            </a:r>
            <a:r>
              <a:rPr lang="en-US" sz="2700" b="1" dirty="0" err="1">
                <a:latin typeface="URWPalladioL-Bold"/>
              </a:rPr>
              <a:t>y</a:t>
            </a:r>
            <a:r>
              <a:rPr lang="en-US" sz="2700" b="1" baseline="30000" dirty="0" err="1">
                <a:latin typeface="URWPalladioL-Bold"/>
              </a:rPr>
              <a:t>T</a:t>
            </a:r>
            <a:r>
              <a:rPr lang="en-US" sz="2700" b="1" dirty="0" err="1">
                <a:latin typeface="URWPalladioL-Bold"/>
              </a:rPr>
              <a:t>Ax</a:t>
            </a:r>
            <a:r>
              <a:rPr lang="en-US" sz="2700" b="1" dirty="0">
                <a:latin typeface="URWPalladioL-Bold"/>
              </a:rPr>
              <a:t> = </a:t>
            </a:r>
            <a:r>
              <a:rPr lang="en-US" sz="2700" b="1" dirty="0" err="1">
                <a:latin typeface="URWPalladioL-Bold"/>
              </a:rPr>
              <a:t>x</a:t>
            </a:r>
            <a:r>
              <a:rPr lang="en-US" sz="2700" b="1" baseline="30000" dirty="0" err="1">
                <a:latin typeface="URWPalladioL-Bold"/>
              </a:rPr>
              <a:t>T</a:t>
            </a:r>
            <a:r>
              <a:rPr lang="en-US" sz="2700" b="1" dirty="0" err="1">
                <a:latin typeface="URWPalladioL-Bold"/>
              </a:rPr>
              <a:t>A</a:t>
            </a:r>
            <a:r>
              <a:rPr lang="en-US" sz="2700" b="1" baseline="30000" dirty="0" err="1">
                <a:latin typeface="URWPalladioL-Bold"/>
              </a:rPr>
              <a:t>T</a:t>
            </a:r>
            <a:r>
              <a:rPr lang="en-US" sz="2700" b="1" dirty="0" err="1">
                <a:latin typeface="URWPalladioL-Bold"/>
              </a:rPr>
              <a:t>y</a:t>
            </a:r>
            <a:endParaRPr lang="en-US" sz="2700" b="1" dirty="0">
              <a:latin typeface="URWPalladioL-Bold"/>
            </a:endParaRPr>
          </a:p>
          <a:p>
            <a:pPr lvl="1"/>
            <a:r>
              <a:rPr lang="en-US" sz="2700" b="1" dirty="0">
                <a:latin typeface="URWPalladioL-Bold"/>
              </a:rPr>
              <a:t>Eigen values and Eigen vectors of A and B</a:t>
            </a:r>
          </a:p>
          <a:p>
            <a:pPr lvl="1"/>
            <a:r>
              <a:rPr lang="en-US" sz="2700" b="1" dirty="0">
                <a:latin typeface="URWPalladioL-Bold"/>
              </a:rPr>
              <a:t>Verify EVD for A and B</a:t>
            </a: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5345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0" ma:contentTypeDescription="Create a new document." ma:contentTypeScope="" ma:versionID="d972b4720b182aa87360edfc2a079f8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ED205A-FE1C-4EEC-BDD6-47325790FD96}"/>
</file>

<file path=customXml/itemProps2.xml><?xml version="1.0" encoding="utf-8"?>
<ds:datastoreItem xmlns:ds="http://schemas.openxmlformats.org/officeDocument/2006/customXml" ds:itemID="{4A443604-9DAB-4C20-8F42-F6B2BE152B0C}"/>
</file>

<file path=customXml/itemProps3.xml><?xml version="1.0" encoding="utf-8"?>
<ds:datastoreItem xmlns:ds="http://schemas.openxmlformats.org/officeDocument/2006/customXml" ds:itemID="{3F29E1A8-7496-496C-B398-25A49A8AE7E6}"/>
</file>

<file path=docProps/app.xml><?xml version="1.0" encoding="utf-8"?>
<Properties xmlns="http://schemas.openxmlformats.org/officeDocument/2006/extended-properties" xmlns:vt="http://schemas.openxmlformats.org/officeDocument/2006/docPropsVTypes">
  <TotalTime>3004</TotalTime>
  <Words>301</Words>
  <Application>Microsoft Office PowerPoint</Application>
  <PresentationFormat>On-screen Show (4:3)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Colonna MT</vt:lpstr>
      <vt:lpstr>Tahoma</vt:lpstr>
      <vt:lpstr>txsys</vt:lpstr>
      <vt:lpstr>URWPalladioL-Bold</vt:lpstr>
      <vt:lpstr>Office Theme</vt:lpstr>
      <vt:lpstr>  Experiment 1: Basic Linear Algebra in Python</vt:lpstr>
      <vt:lpstr>Basic Linear Algebra in Python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 </dc:title>
  <dc:creator>Jigar</dc:creator>
  <cp:lastModifiedBy>Jigarkumar Shah</cp:lastModifiedBy>
  <cp:revision>470</cp:revision>
  <dcterms:created xsi:type="dcterms:W3CDTF">2006-08-16T00:00:00Z</dcterms:created>
  <dcterms:modified xsi:type="dcterms:W3CDTF">2025-07-15T08:55:22Z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