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460" r:id="rId4"/>
    <p:sldId id="459" r:id="rId5"/>
    <p:sldId id="45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47" autoAdjust="0"/>
    <p:restoredTop sz="78305" autoAdjust="0"/>
  </p:normalViewPr>
  <p:slideViewPr>
    <p:cSldViewPr>
      <p:cViewPr varScale="1">
        <p:scale>
          <a:sx n="71" d="100"/>
          <a:sy n="71" d="100"/>
        </p:scale>
        <p:origin x="163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F9673B-F029-4EB6-981F-6118A75E367B}" type="datetimeFigureOut">
              <a:rPr lang="en-US" smtClean="0"/>
              <a:pPr/>
              <a:t>7/15/2025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F8E48-716F-463C-9A2D-BA57804D2BA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62F1F-95C1-45CA-84F0-B138AAEBAF81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760D6-FD85-46FC-B621-90CF24064286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D685E-EC22-4A30-9C5A-5527B3C4452F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8AA1E3-69D8-4A03-B392-4B3DA43B89F5}" type="datetime1">
              <a:rPr lang="en-IN" smtClean="0"/>
              <a:t>15-07-2025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E0FA67-6AED-47ED-98CB-817068A34CDD}" type="datetime1">
              <a:rPr lang="en-IN" smtClean="0"/>
              <a:t>15-07-2025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EBA68-83D6-4A7C-9443-03C3BAB145F5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2F257B-BAD3-4E20-B0B4-3EA4E039C483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A41437-D38A-47BA-AECD-4B3F5E59E416}" type="datetime1">
              <a:rPr lang="en-IN" smtClean="0"/>
              <a:t>15-07-2025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AACA0-1FF6-43FE-9E2F-4E13179A1744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FCC08-E355-4133-96C3-E543032B013A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85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400">
                <a:solidFill>
                  <a:schemeClr val="bg2"/>
                </a:solidFill>
              </a:defRPr>
            </a:lvl1pPr>
          </a:lstStyle>
          <a:p>
            <a:fld id="{9034A2FE-D172-435F-AA4B-518E3133ACED}" type="datetime1">
              <a:rPr lang="en-IN" smtClean="0"/>
              <a:t>15-07-2025</a:t>
            </a:fld>
            <a:endParaRPr lang="en-US"/>
          </a:p>
        </p:txBody>
      </p:sp>
      <p:sp>
        <p:nvSpPr>
          <p:cNvPr id="29185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291856" name="Rectangle 1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>
              <a:defRPr sz="1400">
                <a:solidFill>
                  <a:schemeClr val="bg2"/>
                </a:solidFill>
                <a:latin typeface="Tahoma" pitchFamily="34" charset="0"/>
              </a:defRPr>
            </a:lvl1pPr>
          </a:lstStyle>
          <a:p>
            <a:fld id="{34829615-EA85-47CB-9745-0124BEE5BE2A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291859" name="Rectangle 19"/>
          <p:cNvSpPr>
            <a:spLocks noChangeArrowheads="1"/>
          </p:cNvSpPr>
          <p:nvPr userDrawn="1"/>
        </p:nvSpPr>
        <p:spPr bwMode="gray">
          <a:xfrm>
            <a:off x="114300" y="2830513"/>
            <a:ext cx="8890000" cy="42862"/>
          </a:xfrm>
          <a:prstGeom prst="rect">
            <a:avLst/>
          </a:prstGeom>
          <a:solidFill>
            <a:schemeClr val="tx1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  <p:sp>
        <p:nvSpPr>
          <p:cNvPr id="291860" name="Rectangle 20"/>
          <p:cNvSpPr>
            <a:spLocks noChangeArrowheads="1"/>
          </p:cNvSpPr>
          <p:nvPr userDrawn="1"/>
        </p:nvSpPr>
        <p:spPr bwMode="gray">
          <a:xfrm>
            <a:off x="122238" y="4167188"/>
            <a:ext cx="8890000" cy="42862"/>
          </a:xfrm>
          <a:prstGeom prst="rect">
            <a:avLst/>
          </a:prstGeom>
          <a:gradFill rotWithShape="1">
            <a:gsLst>
              <a:gs pos="0">
                <a:schemeClr val="accent2"/>
              </a:gs>
              <a:gs pos="100000">
                <a:schemeClr val="hlink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kumimoji="1" lang="en-US" sz="240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2ADB42-1EA6-48BD-91C6-255795457A8A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858" name="Rectangle 2"/>
          <p:cNvSpPr>
            <a:spLocks noGrp="1" noChangeArrowheads="1"/>
          </p:cNvSpPr>
          <p:nvPr>
            <p:ph type="ctrTitle" idx="4294967295"/>
          </p:nvPr>
        </p:nvSpPr>
        <p:spPr bwMode="auto">
          <a:xfrm>
            <a:off x="1111250" y="3145414"/>
            <a:ext cx="6921500" cy="1121786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anchor="b">
            <a:normAutofit fontScale="90000"/>
          </a:bodyPr>
          <a:lstStyle/>
          <a:p>
            <a:pPr algn="ctr"/>
            <a:r>
              <a:rPr lang="en-US" sz="3600" dirty="0"/>
              <a:t> </a:t>
            </a:r>
            <a:br>
              <a:rPr lang="en-US" sz="3600" dirty="0"/>
            </a:br>
            <a:r>
              <a:rPr lang="en-US" sz="3600" dirty="0"/>
              <a:t>Experiment 7: </a:t>
            </a:r>
            <a:br>
              <a:rPr lang="en-US" sz="3600" dirty="0"/>
            </a:br>
            <a:r>
              <a:rPr lang="en-IN" sz="3600" dirty="0"/>
              <a:t>LDA Algorithm</a:t>
            </a:r>
            <a:endParaRPr lang="en-US" sz="36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2E4ABEA-BDC3-2120-8281-B22F09EFA2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BE8810AA-E5FB-460E-942C-C27A9A3AE343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A8607D-C84B-CCA0-EA1A-4A2C48DEE6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166938" y="4495800"/>
            <a:ext cx="4919662" cy="1121786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Dr. Jigar Shah</a:t>
            </a:r>
          </a:p>
          <a:p>
            <a:r>
              <a:rPr lang="en-US" dirty="0">
                <a:solidFill>
                  <a:srgbClr val="FF0000"/>
                </a:solidFill>
              </a:rPr>
              <a:t> (Asst. Prof., ICT, PDEU, Gandhinagar)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EEC276-6BC7-413A-A5B4-111DE22303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4829615-EA85-47CB-9745-0124BEE5BE2A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2A28BB-0490-8F52-656F-F58CA031F6CF}"/>
              </a:ext>
            </a:extLst>
          </p:cNvPr>
          <p:cNvSpPr txBox="1"/>
          <p:nvPr/>
        </p:nvSpPr>
        <p:spPr>
          <a:xfrm>
            <a:off x="381000" y="920524"/>
            <a:ext cx="8763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</a:rPr>
              <a:t>MACHINE LEARNING AND APPLICATIONS LAB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685A48-2DDE-6ACA-3346-DAC0DB8CE44D}"/>
              </a:ext>
            </a:extLst>
          </p:cNvPr>
          <p:cNvSpPr txBox="1"/>
          <p:nvPr/>
        </p:nvSpPr>
        <p:spPr>
          <a:xfrm>
            <a:off x="3750973" y="1976863"/>
            <a:ext cx="1642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EC - Semester 5</a:t>
            </a: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Training Dataset from </a:t>
            </a:r>
            <a:r>
              <a:rPr lang="en-US" dirty="0" err="1">
                <a:solidFill>
                  <a:srgbClr val="FF0000"/>
                </a:solidFill>
              </a:rPr>
              <a:t>Sklearn</a:t>
            </a:r>
            <a:r>
              <a:rPr lang="en-US" dirty="0">
                <a:solidFill>
                  <a:srgbClr val="FF0000"/>
                </a:solidFill>
              </a:rPr>
              <a:t> Library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400" y="1404191"/>
            <a:ext cx="8229600" cy="4756150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Complete List of Datasets in the </a:t>
            </a:r>
            <a:r>
              <a:rPr lang="en-IN" sz="2000" b="1" i="0" dirty="0" err="1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Sklearn</a:t>
            </a:r>
            <a:r>
              <a:rPr lang="en-IN" sz="2000" b="1" i="0" dirty="0">
                <a:solidFill>
                  <a:srgbClr val="3C3C3B"/>
                </a:solidFill>
                <a:effectLst/>
                <a:latin typeface="IBM Plex Mono" panose="020B0509050203000203" pitchFamily="49" charset="0"/>
              </a:rPr>
              <a:t> Library</a:t>
            </a:r>
          </a:p>
          <a:p>
            <a:pPr algn="l">
              <a:buFont typeface="+mj-lt"/>
              <a:buAutoNum type="arabicPeriod"/>
            </a:pPr>
            <a:r>
              <a:rPr lang="en-IN" sz="2000" b="1" i="0" dirty="0">
                <a:solidFill>
                  <a:srgbClr val="3C3C3B"/>
                </a:solidFill>
                <a:effectLst/>
                <a:latin typeface="IBM Plex Sans" panose="020B0503050203000203" pitchFamily="34" charset="0"/>
              </a:rPr>
              <a:t>Iris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Diabetes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Digits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Linnerud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Wine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Breast Cancer Wisconsin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Boston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Olivetti Faces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California Housing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MNIST</a:t>
            </a:r>
          </a:p>
          <a:p>
            <a:pPr>
              <a:buFont typeface="+mj-lt"/>
              <a:buAutoNum type="arabicPeriod"/>
            </a:pP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Fashion-MNIST</a:t>
            </a: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make_classification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make_regression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make_blobs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make_moons</a:t>
            </a:r>
            <a:r>
              <a:rPr lang="en-IN" sz="2100" dirty="0">
                <a:solidFill>
                  <a:srgbClr val="3C3C3B"/>
                </a:solidFill>
                <a:latin typeface="IBM Plex Sans" panose="020B0503050203000203" pitchFamily="34" charset="0"/>
              </a:rPr>
              <a:t> and </a:t>
            </a: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make_circles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>
              <a:buFont typeface="+mj-lt"/>
              <a:buAutoNum type="arabicPeriod"/>
            </a:pPr>
            <a:r>
              <a:rPr lang="en-IN" sz="2100" dirty="0" err="1">
                <a:solidFill>
                  <a:srgbClr val="3C3C3B"/>
                </a:solidFill>
                <a:latin typeface="IBM Plex Sans" panose="020B0503050203000203" pitchFamily="34" charset="0"/>
              </a:rPr>
              <a:t>Make_sparse_coded_signal</a:t>
            </a:r>
            <a:endParaRPr lang="en-IN" sz="2100" dirty="0">
              <a:solidFill>
                <a:srgbClr val="3C3C3B"/>
              </a:solidFill>
              <a:latin typeface="IBM Plex Sans" panose="020B0503050203000203" pitchFamily="34" charset="0"/>
            </a:endParaRPr>
          </a:p>
          <a:p>
            <a:pPr marL="0" indent="0" algn="l">
              <a:buNone/>
            </a:pPr>
            <a:endParaRPr lang="en-US" sz="1200" dirty="0">
              <a:solidFill>
                <a:srgbClr val="708090"/>
              </a:solidFill>
              <a:latin typeface="Consolas" panose="020B0609020204030204" pitchFamily="49" charset="0"/>
            </a:endParaRPr>
          </a:p>
          <a:p>
            <a:pPr marL="0" indent="0" algn="l">
              <a:buNone/>
            </a:pPr>
            <a:r>
              <a:rPr lang="en-US" sz="3400" b="0" i="0" dirty="0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 To install </a:t>
            </a:r>
            <a:r>
              <a:rPr lang="en-US" sz="3400" b="0" i="0" dirty="0" err="1">
                <a:solidFill>
                  <a:srgbClr val="708090"/>
                </a:solidFill>
                <a:effectLst/>
                <a:latin typeface="Consolas" panose="020B0609020204030204" pitchFamily="49" charset="0"/>
              </a:rPr>
              <a:t>sklearn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pip install scikit</a:t>
            </a:r>
            <a:r>
              <a:rPr lang="en-US" sz="3400" b="0" i="0" dirty="0">
                <a:solidFill>
                  <a:srgbClr val="9A6E3A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sz="3400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learn</a:t>
            </a:r>
            <a:endParaRPr lang="en-IN" sz="5700" b="0" i="0" dirty="0">
              <a:solidFill>
                <a:srgbClr val="3C3C3B"/>
              </a:solidFill>
              <a:effectLst/>
              <a:latin typeface="IBM Plex Sans" panose="020B0503050203000203" pitchFamily="34" charset="0"/>
            </a:endParaRPr>
          </a:p>
          <a:p>
            <a:pPr lvl="2"/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marL="914400" lvl="2" indent="0">
              <a:buNone/>
            </a:pPr>
            <a:endParaRPr lang="en-IN" sz="28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C0C5E-0917-7E94-75F4-039C1CA82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544" y="-289062"/>
            <a:ext cx="8229600" cy="1143000"/>
          </a:xfrm>
        </p:spPr>
        <p:txBody>
          <a:bodyPr/>
          <a:lstStyle/>
          <a:p>
            <a:r>
              <a:rPr lang="en-IN" dirty="0">
                <a:solidFill>
                  <a:srgbClr val="FF0000"/>
                </a:solidFill>
              </a:rPr>
              <a:t>IRIS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BFF1E-ABAB-C525-E699-4435C0C69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716835"/>
            <a:ext cx="8229600" cy="2716249"/>
          </a:xfrm>
        </p:spPr>
        <p:txBody>
          <a:bodyPr>
            <a:normAutofit/>
          </a:bodyPr>
          <a:lstStyle/>
          <a:p>
            <a:pPr algn="just"/>
            <a:r>
              <a:rPr lang="en-US" sz="2400" b="0" i="0" u="none" strike="noStrike" baseline="0" dirty="0">
                <a:latin typeface="MinionPro-Regular"/>
              </a:rPr>
              <a:t>The IRIS dataset consists of 150 samples of iris flowers from three different species: </a:t>
            </a:r>
            <a:r>
              <a:rPr lang="en-US" sz="2400" b="0" i="0" u="none" strike="noStrike" baseline="0" dirty="0" err="1">
                <a:latin typeface="MinionPro-Regular"/>
              </a:rPr>
              <a:t>Setosa</a:t>
            </a:r>
            <a:r>
              <a:rPr lang="en-US" sz="2400" b="0" i="0" u="none" strike="noStrike" baseline="0" dirty="0">
                <a:latin typeface="MinionPro-Regular"/>
              </a:rPr>
              <a:t>, Versicolor, and Virginica. Each sample includes four features: sepal length, sepal width, petal length, and petal width. So here number of samples N = 150, number of features d = 4 and number of classes K = 3.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AA84E6-F805-9266-1CFD-E99AE02042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15-07-2025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72F07-D16D-D5C8-EC09-51CECAA64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51643E-FECE-F6B4-013B-87DBFE157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F3F2C5-238F-41D1-44E1-A125A9EB4F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933" y="2971800"/>
            <a:ext cx="5501640" cy="3056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919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>
          <a:xfrm>
            <a:off x="493955" y="427243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FF0000"/>
                </a:solidFill>
              </a:rPr>
              <a:t> LDA Algorithm Implementation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2BAD23-5DCC-7352-4BBE-2156B7236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C3A368-42C6-443E-B0FE-E76D4816599A}" type="datetime1">
              <a:rPr lang="en-IN" smtClean="0"/>
              <a:t>15-07-2025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E71020B-AD85-4DFE-8C63-049E7CB43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F8170-1EFE-F0A4-FFA3-40BE43926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204047B2-35A5-A859-2942-A8A0A304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671138"/>
            <a:ext cx="8229600" cy="6218238"/>
          </a:xfrm>
        </p:spPr>
        <p:txBody>
          <a:bodyPr>
            <a:normAutofit/>
          </a:bodyPr>
          <a:lstStyle/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US" sz="2900" b="1" dirty="0">
              <a:latin typeface="URWPalladioL-Bold"/>
            </a:endParaRPr>
          </a:p>
          <a:p>
            <a:pPr lvl="1"/>
            <a:endParaRPr lang="en-IN" baseline="30000" dirty="0"/>
          </a:p>
        </p:txBody>
      </p:sp>
      <p:sp>
        <p:nvSpPr>
          <p:cNvPr id="5" name="Content Placeholder 12">
            <a:extLst>
              <a:ext uri="{FF2B5EF4-FFF2-40B4-BE49-F238E27FC236}">
                <a16:creationId xmlns:a16="http://schemas.microsoft.com/office/drawing/2014/main" id="{199CCA18-1B38-98E7-F6FD-9C6AD99BCD40}"/>
              </a:ext>
            </a:extLst>
          </p:cNvPr>
          <p:cNvSpPr txBox="1">
            <a:spLocks/>
          </p:cNvSpPr>
          <p:nvPr/>
        </p:nvSpPr>
        <p:spPr>
          <a:xfrm>
            <a:off x="493955" y="1205203"/>
            <a:ext cx="8229600" cy="50292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Use the whole 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IRIS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 dataset with all features to estimate the LDA projection matrices (</a:t>
            </a:r>
            <a:r>
              <a:rPr lang="en-US" sz="3200" b="1" i="0" u="none" strike="noStrike" baseline="0" dirty="0">
                <a:solidFill>
                  <a:srgbClr val="000000"/>
                </a:solidFill>
                <a:latin typeface="URWPalladioL-Roma"/>
              </a:rPr>
              <a:t>A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), for maximum possible LDA dimension.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What is the maximum LDA dimension you can use in this case? Why?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Use Standard scalar to standardize the dataset (mean = 0, variance = 1) as a preprocessing before application of LDA algorithm.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Display all eigenvalues of the scatter matrix </a:t>
            </a:r>
            <a:r>
              <a:rPr lang="en-IN" sz="3200" b="1" dirty="0"/>
              <a:t>S</a:t>
            </a:r>
            <a:r>
              <a:rPr lang="en-IN" sz="3200" baseline="-25000" dirty="0"/>
              <a:t>w</a:t>
            </a:r>
            <a:r>
              <a:rPr lang="en-IN" sz="3200" baseline="30000" dirty="0"/>
              <a:t>-1</a:t>
            </a:r>
            <a:r>
              <a:rPr lang="en-IN" sz="3200" b="1" dirty="0"/>
              <a:t>S</a:t>
            </a:r>
            <a:r>
              <a:rPr lang="en-IN" sz="3200" baseline="-25000" dirty="0"/>
              <a:t>b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 from the largest to the smallest. If matrix </a:t>
            </a:r>
            <a:r>
              <a:rPr lang="en-IN" sz="3200" b="1" dirty="0" err="1"/>
              <a:t>S</a:t>
            </a:r>
            <a:r>
              <a:rPr lang="en-IN" sz="3200" baseline="-25000" dirty="0" err="1"/>
              <a:t>w</a:t>
            </a:r>
            <a:r>
              <a:rPr lang="en-IN" sz="3200" baseline="-25000" dirty="0"/>
              <a:t> 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is singular use regularization to obtain its inverse.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Reconstruct the dataset from LDA projected dataset. </a:t>
            </a:r>
          </a:p>
          <a:p>
            <a:pPr algn="just"/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Visualize original Vs. reconstructed </a:t>
            </a:r>
            <a:r>
              <a:rPr lang="en-US" dirty="0">
                <a:solidFill>
                  <a:srgbClr val="000000"/>
                </a:solidFill>
                <a:latin typeface="URWPalladioL-Roma"/>
              </a:rPr>
              <a:t>features</a:t>
            </a:r>
            <a:r>
              <a:rPr lang="en-US" sz="3200" b="0" i="0" u="none" strike="noStrike" baseline="0" dirty="0">
                <a:solidFill>
                  <a:srgbClr val="000000"/>
                </a:solidFill>
                <a:latin typeface="URWPalladioL-Roma"/>
              </a:rPr>
              <a:t> for each feature.</a:t>
            </a:r>
          </a:p>
          <a:p>
            <a:pPr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  <a:p>
            <a:pPr lvl="1" algn="just"/>
            <a:endParaRPr lang="en-IN" sz="3200" dirty="0">
              <a:solidFill>
                <a:schemeClr val="tx2">
                  <a:satMod val="130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0992911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037746-8414-7D59-08DC-16E7D14A7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96851"/>
            <a:ext cx="8229600" cy="868362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Work Flow: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40C70D-C7B7-1CE0-2635-D231E485B6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Aim of Experiment (Handwritten)</a:t>
            </a:r>
          </a:p>
          <a:p>
            <a:pPr marL="514350" indent="-514350">
              <a:buFont typeface="+mj-lt"/>
              <a:buAutoNum type="arabicPeriod"/>
            </a:pPr>
            <a:r>
              <a:rPr lang="en-IN"/>
              <a:t>Python </a:t>
            </a:r>
            <a:r>
              <a:rPr lang="en-IN" dirty="0"/>
              <a:t>code with results and graphs (print)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Conclusion (Handwritten)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4EE0E-8BBD-5799-62BD-D950E044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ABDB27-ED5A-4E0B-8784-15C769C9A57F}" type="datetime1">
              <a:rPr lang="en-IN" smtClean="0"/>
              <a:t>15-07-2025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C7F78C-28FD-E9E0-F483-60F85C825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Dr. Jigar Shah  (Asst. Prof., ICT, PDEU, Gandhinagar)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BF50-6222-095C-1283-15DE7B2C8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890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18A83D8036314F9AD3D552E201887A" ma:contentTypeVersion="3" ma:contentTypeDescription="Create a new document." ma:contentTypeScope="" ma:versionID="05de28fce94df776c23a6599f8d24276">
  <xsd:schema xmlns:xsd="http://www.w3.org/2001/XMLSchema" xmlns:xs="http://www.w3.org/2001/XMLSchema" xmlns:p="http://schemas.microsoft.com/office/2006/metadata/properties" xmlns:ns2="e04e232b-3421-42b1-ac31-b988076b4f96" targetNamespace="http://schemas.microsoft.com/office/2006/metadata/properties" ma:root="true" ma:fieldsID="39d5cd531208f9cacd8a89c696efe2c1" ns2:_="">
    <xsd:import namespace="e04e232b-3421-42b1-ac31-b988076b4f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4e232b-3421-42b1-ac31-b988076b4f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A1BD371-8EE5-489D-B0BA-A2A0431802FD}"/>
</file>

<file path=customXml/itemProps2.xml><?xml version="1.0" encoding="utf-8"?>
<ds:datastoreItem xmlns:ds="http://schemas.openxmlformats.org/officeDocument/2006/customXml" ds:itemID="{3EA5C4B1-D5A2-4CFB-AD31-B83D110AE0CD}"/>
</file>

<file path=customXml/itemProps3.xml><?xml version="1.0" encoding="utf-8"?>
<ds:datastoreItem xmlns:ds="http://schemas.openxmlformats.org/officeDocument/2006/customXml" ds:itemID="{46B082F6-7584-48C1-B569-7D9B61F8361B}"/>
</file>

<file path=docProps/app.xml><?xml version="1.0" encoding="utf-8"?>
<Properties xmlns="http://schemas.openxmlformats.org/officeDocument/2006/extended-properties" xmlns:vt="http://schemas.openxmlformats.org/officeDocument/2006/docPropsVTypes">
  <TotalTime>5157</TotalTime>
  <Words>362</Words>
  <Application>Microsoft Office PowerPoint</Application>
  <PresentationFormat>On-screen Show (4:3)</PresentationFormat>
  <Paragraphs>53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5" baseType="lpstr">
      <vt:lpstr>Arial</vt:lpstr>
      <vt:lpstr>Calibri</vt:lpstr>
      <vt:lpstr>Consolas</vt:lpstr>
      <vt:lpstr>IBM Plex Mono</vt:lpstr>
      <vt:lpstr>IBM Plex Sans</vt:lpstr>
      <vt:lpstr>MinionPro-Regular</vt:lpstr>
      <vt:lpstr>Tahoma</vt:lpstr>
      <vt:lpstr>URWPalladioL-Bold</vt:lpstr>
      <vt:lpstr>URWPalladioL-Roma</vt:lpstr>
      <vt:lpstr>Office Theme</vt:lpstr>
      <vt:lpstr>  Experiment 7:  LDA Algorithm</vt:lpstr>
      <vt:lpstr>Training Dataset from Sklearn Library</vt:lpstr>
      <vt:lpstr>IRIS Dataset</vt:lpstr>
      <vt:lpstr> LDA Algorithm Implementation</vt:lpstr>
      <vt:lpstr>Work Flow: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  Probability Theory &amp; Random Variables</dc:title>
  <dc:creator>Jigar</dc:creator>
  <cp:lastModifiedBy>Jigarkumar Shah</cp:lastModifiedBy>
  <cp:revision>552</cp:revision>
  <dcterms:created xsi:type="dcterms:W3CDTF">2006-08-16T00:00:00Z</dcterms:created>
  <dcterms:modified xsi:type="dcterms:W3CDTF">2025-07-15T09:00:15Z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0x010100B218A83D8036314F9AD3D552E201887A</vt:lpwstr>
  </property>
</Properties>
</file>