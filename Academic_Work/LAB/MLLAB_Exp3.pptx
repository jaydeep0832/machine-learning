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460" r:id="rId4"/>
    <p:sldId id="461" r:id="rId5"/>
    <p:sldId id="459" r:id="rId6"/>
    <p:sldId id="45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7" autoAdjust="0"/>
    <p:restoredTop sz="78305" autoAdjust="0"/>
  </p:normalViewPr>
  <p:slideViewPr>
    <p:cSldViewPr>
      <p:cViewPr varScale="1">
        <p:scale>
          <a:sx n="71" d="100"/>
          <a:sy n="71" d="100"/>
        </p:scale>
        <p:origin x="163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19-08-2025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19-08-2025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19-08-2025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19-08-2025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19-08-2025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19-08-2025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19-08-2025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19-08-2025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19-08-2025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19-08-2025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19-08-2025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fld id="{9034A2FE-D172-435F-AA4B-518E3133ACED}" type="datetime1">
              <a:rPr lang="en-IN" smtClean="0"/>
              <a:t>19-08-2025</a:t>
            </a:fld>
            <a:endParaRPr lang="en-US"/>
          </a:p>
        </p:txBody>
      </p:sp>
      <p:sp>
        <p:nvSpPr>
          <p:cNvPr id="29185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291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34829615-EA85-47CB-9745-0124BEE5BE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1859" name="Rectangle 19"/>
          <p:cNvSpPr>
            <a:spLocks noChangeArrowheads="1"/>
          </p:cNvSpPr>
          <p:nvPr userDrawn="1"/>
        </p:nvSpPr>
        <p:spPr bwMode="gray">
          <a:xfrm>
            <a:off x="114300" y="2830513"/>
            <a:ext cx="8890000" cy="428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  <p:sp>
        <p:nvSpPr>
          <p:cNvPr id="291860" name="Rectangle 20"/>
          <p:cNvSpPr>
            <a:spLocks noChangeArrowheads="1"/>
          </p:cNvSpPr>
          <p:nvPr userDrawn="1"/>
        </p:nvSpPr>
        <p:spPr bwMode="gray">
          <a:xfrm>
            <a:off x="122238" y="4167188"/>
            <a:ext cx="8890000" cy="4286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19-08-2025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1111250" y="3145414"/>
            <a:ext cx="6921500" cy="112178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>
            <a:normAutofit fontScale="90000"/>
          </a:bodyPr>
          <a:lstStyle/>
          <a:p>
            <a:pPr algn="ctr"/>
            <a:r>
              <a:rPr lang="en-US" sz="3600" dirty="0"/>
              <a:t> </a:t>
            </a:r>
            <a:br>
              <a:rPr lang="en-US" sz="3600" dirty="0"/>
            </a:br>
            <a:r>
              <a:rPr lang="en-US" sz="3600" dirty="0"/>
              <a:t>Experiment 3: </a:t>
            </a:r>
            <a:br>
              <a:rPr lang="en-US" sz="3600" dirty="0"/>
            </a:br>
            <a:r>
              <a:rPr lang="en-US" sz="3600" dirty="0"/>
              <a:t>Training, Testing and Evaluation of </a:t>
            </a:r>
            <a:r>
              <a:rPr lang="en-IN" sz="3600" dirty="0"/>
              <a:t>Perceptron Algorithm for Binary Classification Problem  </a:t>
            </a:r>
            <a:endParaRPr lang="en-US" sz="3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8810AA-E5FB-460E-942C-C27A9A3AE343}" type="datetime1">
              <a:rPr lang="en-IN" smtClean="0"/>
              <a:t>19-08-2025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Jigar Shah</a:t>
            </a:r>
          </a:p>
          <a:p>
            <a:r>
              <a:rPr lang="en-US" dirty="0">
                <a:solidFill>
                  <a:srgbClr val="FF0000"/>
                </a:solidFill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381000" y="920524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</a:rPr>
              <a:t>MACHINE LEARNING AND APPLICATIONS 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3657600" y="1771358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EC Semester 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Training Dataset from </a:t>
            </a:r>
            <a:r>
              <a:rPr lang="en-US" dirty="0" err="1">
                <a:solidFill>
                  <a:srgbClr val="FF0000"/>
                </a:solidFill>
              </a:rPr>
              <a:t>Sklearn</a:t>
            </a:r>
            <a:r>
              <a:rPr lang="en-US" dirty="0">
                <a:solidFill>
                  <a:srgbClr val="FF0000"/>
                </a:solidFill>
              </a:rPr>
              <a:t> Library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04191"/>
            <a:ext cx="8229600" cy="475615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sz="2000" b="1" i="0" dirty="0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Complete List of Datasets in the </a:t>
            </a:r>
            <a:r>
              <a:rPr lang="en-IN" sz="2000" b="1" i="0" dirty="0" err="1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Sklearn</a:t>
            </a:r>
            <a:r>
              <a:rPr lang="en-IN" sz="2000" b="1" i="0" dirty="0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 Library</a:t>
            </a:r>
          </a:p>
          <a:p>
            <a:pPr algn="l">
              <a:buFont typeface="+mj-lt"/>
              <a:buAutoNum type="arabicPeriod"/>
            </a:pPr>
            <a:r>
              <a:rPr lang="en-IN" sz="2000" b="0" i="0" dirty="0">
                <a:solidFill>
                  <a:srgbClr val="3C3C3B"/>
                </a:solidFill>
                <a:effectLst/>
                <a:latin typeface="IBM Plex Sans" panose="020B0503050203000203" pitchFamily="34" charset="0"/>
              </a:rPr>
              <a:t>Iris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Diabetes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Digits</a:t>
            </a: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Linnerud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Wine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Breast Cancer Wisconsin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Boston Housing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Olivetti Faces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California Housing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MNIST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Fashion-MNIST</a:t>
            </a:r>
          </a:p>
          <a:p>
            <a:pPr>
              <a:buFont typeface="+mj-lt"/>
              <a:buAutoNum type="arabicPeriod"/>
            </a:pPr>
            <a:r>
              <a:rPr lang="en-IN" sz="2100" b="1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make_classification</a:t>
            </a:r>
            <a:endParaRPr lang="en-IN" sz="2100" b="1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make_regression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make_blobs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make_moons</a:t>
            </a: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 and </a:t>
            </a: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make_circles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Make_sparse_coded_signal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3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To install </a:t>
            </a:r>
            <a:r>
              <a:rPr lang="en-US" sz="3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pip install scikit</a:t>
            </a:r>
            <a:r>
              <a:rPr lang="en-US" sz="3400" b="0" i="0" dirty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learn</a:t>
            </a:r>
            <a:endParaRPr lang="en-IN" sz="5700" b="0" i="0" dirty="0">
              <a:solidFill>
                <a:srgbClr val="3C3C3B"/>
              </a:solidFill>
              <a:effectLst/>
              <a:latin typeface="IBM Plex Sans" panose="020B0503050203000203" pitchFamily="34" charset="0"/>
            </a:endParaRPr>
          </a:p>
          <a:p>
            <a:pPr lvl="2"/>
            <a:endParaRPr lang="en-IN" sz="28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marL="914400" lvl="2" indent="0">
              <a:buNone/>
            </a:pPr>
            <a:endParaRPr lang="en-IN" sz="28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19-08-2025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C0C5E-0917-7E94-75F4-039C1CA82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solidFill>
                  <a:srgbClr val="FF0000"/>
                </a:solidFill>
              </a:rPr>
              <a:t>Make_Classification</a:t>
            </a:r>
            <a:r>
              <a:rPr lang="en-IN" dirty="0">
                <a:solidFill>
                  <a:srgbClr val="FF0000"/>
                </a:solidFill>
              </a:rPr>
              <a:t>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BFF1E-ABAB-C525-E699-4435C0C69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Generates a random n-class classification dataset with a specified number of samples, features, and informative features.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Here's an example code to generate this </a:t>
            </a:r>
            <a:r>
              <a:rPr lang="en-US" dirty="0" err="1"/>
              <a:t>sklearn</a:t>
            </a:r>
            <a:r>
              <a:rPr lang="en-US" dirty="0"/>
              <a:t> dataset with 100 samples, 2 features, and 2 classes: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from </a:t>
            </a:r>
            <a:r>
              <a:rPr lang="en-US" dirty="0" err="1"/>
              <a:t>sklearn.datasets</a:t>
            </a:r>
            <a:r>
              <a:rPr lang="en-US" dirty="0"/>
              <a:t> import </a:t>
            </a:r>
            <a:r>
              <a:rPr lang="en-US" dirty="0" err="1"/>
              <a:t>make_classification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X, y = </a:t>
            </a:r>
            <a:r>
              <a:rPr lang="en-US" dirty="0" err="1"/>
              <a:t>make_classification</a:t>
            </a:r>
            <a:r>
              <a:rPr lang="en-US" dirty="0"/>
              <a:t>(</a:t>
            </a:r>
            <a:r>
              <a:rPr lang="en-US" dirty="0" err="1"/>
              <a:t>n_samples</a:t>
            </a:r>
            <a:r>
              <a:rPr lang="en-US" dirty="0"/>
              <a:t>=100, </a:t>
            </a:r>
            <a:r>
              <a:rPr lang="en-US" dirty="0" err="1"/>
              <a:t>n_features</a:t>
            </a:r>
            <a:r>
              <a:rPr lang="en-US" dirty="0"/>
              <a:t>=2, </a:t>
            </a:r>
            <a:r>
              <a:rPr lang="en-US" dirty="0" err="1"/>
              <a:t>n_classes</a:t>
            </a:r>
            <a:r>
              <a:rPr lang="en-US" dirty="0"/>
              <a:t>=2)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A84E6-F805-9266-1CFD-E99AE020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19-08-2025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72F07-D16D-D5C8-EC09-51CECAA64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1643E-FECE-F6B4-013B-87DBFE15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01722-962A-B1E4-8B4C-32157025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Performance Measure: Confusion Matrix for Binary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47029-7908-1027-2535-98568DE01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295" y="1659423"/>
            <a:ext cx="5680105" cy="48768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b="1" i="0" dirty="0">
                <a:solidFill>
                  <a:srgbClr val="141414"/>
                </a:solidFill>
                <a:effectLst/>
                <a:latin typeface="Source Sans Pro" panose="020B0503030403020204" pitchFamily="34" charset="0"/>
              </a:rPr>
              <a:t>What the Confusion Matrix Measures?</a:t>
            </a:r>
          </a:p>
          <a:p>
            <a:pPr algn="just"/>
            <a:r>
              <a:rPr lang="en-US" b="0" i="0" dirty="0">
                <a:solidFill>
                  <a:srgbClr val="141414"/>
                </a:solidFill>
                <a:effectLst/>
                <a:latin typeface="Source Sans Pro" panose="020B0503030403020204" pitchFamily="34" charset="0"/>
              </a:rPr>
              <a:t>It measures the quality of predictions from a classification model by looking at how many predictions are True and how many are False.</a:t>
            </a:r>
          </a:p>
          <a:p>
            <a:pPr algn="just"/>
            <a:r>
              <a:rPr lang="en-US" b="0" i="0" dirty="0">
                <a:solidFill>
                  <a:srgbClr val="141414"/>
                </a:solidFill>
                <a:effectLst/>
                <a:latin typeface="Source Sans Pro" panose="020B0503030403020204" pitchFamily="34" charset="0"/>
              </a:rPr>
              <a:t>Specifically, it computes:</a:t>
            </a:r>
          </a:p>
          <a:p>
            <a:pPr lvl="1"/>
            <a:r>
              <a:rPr lang="en-US" dirty="0">
                <a:solidFill>
                  <a:srgbClr val="141414"/>
                </a:solidFill>
                <a:latin typeface="Source Sans Pro" panose="020B0503030403020204" pitchFamily="34" charset="0"/>
              </a:rPr>
              <a:t>True positives (TP): The model predicted true and it is true.</a:t>
            </a:r>
          </a:p>
          <a:p>
            <a:pPr lvl="1"/>
            <a:r>
              <a:rPr lang="en-US" dirty="0">
                <a:solidFill>
                  <a:srgbClr val="141414"/>
                </a:solidFill>
                <a:latin typeface="Source Sans Pro" panose="020B0503030403020204" pitchFamily="34" charset="0"/>
              </a:rPr>
              <a:t> F</a:t>
            </a:r>
            <a:r>
              <a:rPr lang="en-US" b="0" i="0" dirty="0">
                <a:solidFill>
                  <a:srgbClr val="141414"/>
                </a:solidFill>
                <a:effectLst/>
                <a:latin typeface="Source Sans Pro" panose="020B0503030403020204" pitchFamily="34" charset="0"/>
              </a:rPr>
              <a:t>alse positives (FP): The model predicted true and it is false. </a:t>
            </a:r>
          </a:p>
          <a:p>
            <a:pPr lvl="1"/>
            <a:r>
              <a:rPr lang="en-US" b="0" i="0" dirty="0">
                <a:solidFill>
                  <a:srgbClr val="141414"/>
                </a:solidFill>
                <a:effectLst/>
                <a:latin typeface="Source Sans Pro" panose="020B0503030403020204" pitchFamily="34" charset="0"/>
              </a:rPr>
              <a:t>True negatives (TN): The model predicted false and it is false.</a:t>
            </a:r>
          </a:p>
          <a:p>
            <a:pPr lvl="1"/>
            <a:r>
              <a:rPr lang="en-US" b="0" i="0" dirty="0">
                <a:solidFill>
                  <a:srgbClr val="141414"/>
                </a:solidFill>
                <a:effectLst/>
                <a:latin typeface="Source Sans Pro" panose="020B0503030403020204" pitchFamily="34" charset="0"/>
              </a:rPr>
              <a:t> False negatives (FN): The model predicted false and it is true.</a:t>
            </a:r>
          </a:p>
          <a:p>
            <a:pPr algn="just"/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80AA1-AB0F-BAB5-9D69-7395E55DB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19-08-2025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78003-F635-D020-9F37-8D4CE8C12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E774C-9357-10E4-BC65-F82B1A32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EAD63FC3-F825-510E-D295-B7DFAF0F22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5AEB3640-DD34-EDB9-F2F0-C160B9901F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58000" y="4648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CEFF78-815D-3430-B26E-39CECD685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743" y="4155768"/>
            <a:ext cx="2915057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07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Steps: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19-08-2025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71138"/>
            <a:ext cx="8229600" cy="6218238"/>
          </a:xfrm>
        </p:spPr>
        <p:txBody>
          <a:bodyPr>
            <a:normAutofit/>
          </a:bodyPr>
          <a:lstStyle/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IN" baseline="30000" dirty="0"/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199CCA18-1B38-98E7-F6FD-9C6AD99BCD40}"/>
              </a:ext>
            </a:extLst>
          </p:cNvPr>
          <p:cNvSpPr txBox="1">
            <a:spLocks/>
          </p:cNvSpPr>
          <p:nvPr/>
        </p:nvSpPr>
        <p:spPr>
          <a:xfrm>
            <a:off x="457200" y="838200"/>
            <a:ext cx="82296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Import </a:t>
            </a:r>
            <a:r>
              <a:rPr lang="en-IN" sz="3200" dirty="0" err="1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make_classification</a:t>
            </a:r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 dataset: 100 samples, 2 features and 2 classes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Pre-process the dataset as per requirement of perceptron algorithm for binary classification problem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Display overall dataset on 2-D space using scatter plot. (Use separate markers/colours for datapoints corresponds to two classes). Use proper legends.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Split the data set into training (80%) and testing(20%) dataset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</a:rPr>
              <a:t>Display training data set and testing data set with true labels on scatter plot in 2-D space. Use proper legends.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Initialize and Train perceptron algorithm using training dataset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Obtain number of mistakes made during training and final weight vector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Test the algorithm using testing dataset and obtain predictions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Find number of mis-classification errors made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Display accuracy score in %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Display testing data set with predicted labels on same scatter plot in 2-D space and plot the decision boundary on same. Use proper legends.</a:t>
            </a:r>
          </a:p>
          <a:p>
            <a:pPr lvl="1"/>
            <a:r>
              <a:rPr lang="en-IN" sz="3200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Create and display confusion matrix for this binary classifier.</a:t>
            </a:r>
          </a:p>
          <a:p>
            <a:pPr lvl="1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lvl="1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9291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7746-8414-7D59-08DC-16E7D14A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6851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Work Flow: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C70D-C7B7-1CE0-2635-D231E485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Aim of Experiment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About dataset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Python code with results and graphs (print)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 (Handwritten)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EE0E-8BBD-5799-62BD-D950E044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19-08-2025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7F78C-28FD-E9E0-F483-60F85C82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BF50-6222-095C-1283-15DE7B2C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9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18A83D8036314F9AD3D552E201887A" ma:contentTypeVersion="3" ma:contentTypeDescription="Create a new document." ma:contentTypeScope="" ma:versionID="05de28fce94df776c23a6599f8d24276">
  <xsd:schema xmlns:xsd="http://www.w3.org/2001/XMLSchema" xmlns:xs="http://www.w3.org/2001/XMLSchema" xmlns:p="http://schemas.microsoft.com/office/2006/metadata/properties" xmlns:ns2="e04e232b-3421-42b1-ac31-b988076b4f96" targetNamespace="http://schemas.microsoft.com/office/2006/metadata/properties" ma:root="true" ma:fieldsID="39d5cd531208f9cacd8a89c696efe2c1" ns2:_="">
    <xsd:import namespace="e04e232b-3421-42b1-ac31-b988076b4f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4e232b-3421-42b1-ac31-b988076b4f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14FBC0F-2C0F-4CF4-81FB-3D77398CF4C4}"/>
</file>

<file path=customXml/itemProps2.xml><?xml version="1.0" encoding="utf-8"?>
<ds:datastoreItem xmlns:ds="http://schemas.openxmlformats.org/officeDocument/2006/customXml" ds:itemID="{B3D3E01E-516C-42A3-88D0-B64F86BEFD19}"/>
</file>

<file path=customXml/itemProps3.xml><?xml version="1.0" encoding="utf-8"?>
<ds:datastoreItem xmlns:ds="http://schemas.openxmlformats.org/officeDocument/2006/customXml" ds:itemID="{A32932E7-2935-46F9-A0A6-5915C5314356}"/>
</file>

<file path=docProps/app.xml><?xml version="1.0" encoding="utf-8"?>
<Properties xmlns="http://schemas.openxmlformats.org/officeDocument/2006/extended-properties" xmlns:vt="http://schemas.openxmlformats.org/officeDocument/2006/docPropsVTypes">
  <TotalTime>3784</TotalTime>
  <Words>561</Words>
  <Application>Microsoft Office PowerPoint</Application>
  <PresentationFormat>On-screen Show (4:3)</PresentationFormat>
  <Paragraphs>80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Consolas</vt:lpstr>
      <vt:lpstr>IBM Plex Mono</vt:lpstr>
      <vt:lpstr>IBM Plex Sans</vt:lpstr>
      <vt:lpstr>Source Sans Pro</vt:lpstr>
      <vt:lpstr>Tahoma</vt:lpstr>
      <vt:lpstr>URWPalladioL-Bold</vt:lpstr>
      <vt:lpstr>Office Theme</vt:lpstr>
      <vt:lpstr>  Experiment 3:  Training, Testing and Evaluation of Perceptron Algorithm for Binary Classification Problem  </vt:lpstr>
      <vt:lpstr>Training Dataset from Sklearn Library</vt:lpstr>
      <vt:lpstr>Make_Classification Dataset</vt:lpstr>
      <vt:lpstr>Performance Measure: Confusion Matrix for Binary Classifier</vt:lpstr>
      <vt:lpstr>Steps:</vt:lpstr>
      <vt:lpstr>Work Flow: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507</cp:revision>
  <dcterms:created xsi:type="dcterms:W3CDTF">2006-08-16T00:00:00Z</dcterms:created>
  <dcterms:modified xsi:type="dcterms:W3CDTF">2025-08-19T13:16:22Z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0x010100B218A83D8036314F9AD3D552E201887A</vt:lpwstr>
  </property>
</Properties>
</file>