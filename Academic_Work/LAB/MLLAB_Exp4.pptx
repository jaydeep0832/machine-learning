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460" r:id="rId4"/>
    <p:sldId id="459" r:id="rId5"/>
    <p:sldId id="461" r:id="rId6"/>
    <p:sldId id="45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02-09-2025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02-09-2025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02-09-2025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02-09-2025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02-09-2025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02-09-2025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02-09-2025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ussianwaves.com/2020/02/linear-regression-using-pytho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Experiment 4: </a:t>
            </a:r>
            <a:br>
              <a:rPr lang="en-US" sz="3600" dirty="0"/>
            </a:br>
            <a:r>
              <a:rPr lang="en-US" sz="3600" dirty="0"/>
              <a:t>Training, Testing and Evaluation of </a:t>
            </a:r>
            <a:r>
              <a:rPr lang="en-IN" sz="3600" dirty="0"/>
              <a:t>Linear and Ridge Regression Algorithms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02-09-2025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AND APPLICATIONS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657600" y="1941901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Dataset from </a:t>
            </a:r>
            <a:r>
              <a:rPr lang="en-US" dirty="0" err="1">
                <a:solidFill>
                  <a:srgbClr val="FF0000"/>
                </a:solidFill>
              </a:rPr>
              <a:t>Sklearn</a:t>
            </a:r>
            <a:r>
              <a:rPr lang="en-US" dirty="0">
                <a:solidFill>
                  <a:srgbClr val="FF0000"/>
                </a:solidFill>
              </a:rPr>
              <a:t> Library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04191"/>
            <a:ext cx="8229600" cy="475615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Complete List of Datasets in the </a:t>
            </a:r>
            <a:r>
              <a:rPr lang="en-IN" sz="2000" b="1" i="0" dirty="0" err="1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Sklearn</a:t>
            </a:r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 Library</a:t>
            </a:r>
          </a:p>
          <a:p>
            <a:pPr algn="l">
              <a:buFont typeface="+mj-lt"/>
              <a:buAutoNum type="arabicPeriod"/>
            </a:pPr>
            <a:r>
              <a:rPr lang="en-IN" sz="2000" b="0" i="0" dirty="0">
                <a:solidFill>
                  <a:srgbClr val="3C3C3B"/>
                </a:solidFill>
                <a:effectLst/>
                <a:latin typeface="IBM Plex Sans" panose="020B0503050203000203" pitchFamily="34" charset="0"/>
              </a:rPr>
              <a:t>Iris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Diabetes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Digits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Linnerud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Wine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Breast Cancer Wisconsin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Boston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Olivetti Faces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California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MNIST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Fashion-MNIST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make_classification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b="1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make_regression</a:t>
            </a:r>
            <a:endParaRPr lang="en-IN" sz="2100" b="1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make_blobs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make_moons</a:t>
            </a: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 and </a:t>
            </a: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make_circles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Make_sparse_coded_signal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3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install </a:t>
            </a:r>
            <a:r>
              <a:rPr lang="en-US" sz="3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pip install scikit</a:t>
            </a:r>
            <a:r>
              <a:rPr lang="en-US" sz="3400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</a:t>
            </a:r>
            <a:endParaRPr lang="en-IN" sz="5700" b="0" i="0" dirty="0">
              <a:solidFill>
                <a:srgbClr val="3C3C3B"/>
              </a:solidFill>
              <a:effectLst/>
              <a:latin typeface="IBM Plex Sans" panose="020B0503050203000203" pitchFamily="34" charset="0"/>
            </a:endParaRPr>
          </a:p>
          <a:p>
            <a:pPr lvl="2"/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marL="914400" lvl="2" indent="0">
              <a:buNone/>
            </a:pPr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02-09-2025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0C5E-0917-7E94-75F4-039C1CA8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7524"/>
            <a:ext cx="8229600" cy="1143000"/>
          </a:xfrm>
        </p:spPr>
        <p:txBody>
          <a:bodyPr/>
          <a:lstStyle/>
          <a:p>
            <a:r>
              <a:rPr lang="en-IN" dirty="0" err="1">
                <a:solidFill>
                  <a:srgbClr val="FF0000"/>
                </a:solidFill>
              </a:rPr>
              <a:t>Make_Regression</a:t>
            </a:r>
            <a:r>
              <a:rPr lang="en-IN" dirty="0">
                <a:solidFill>
                  <a:srgbClr val="FF0000"/>
                </a:solidFill>
              </a:rPr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FF1E-ABAB-C525-E699-4435C0C6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72" y="1246151"/>
            <a:ext cx="8229600" cy="547532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b="0" i="0" dirty="0">
                <a:solidFill>
                  <a:srgbClr val="3A3A3A"/>
                </a:solidFill>
                <a:effectLst/>
                <a:latin typeface="Libre Franklin" panose="020F0502020204030204" pitchFamily="2" charset="0"/>
              </a:rPr>
              <a:t>To simulate regression problems, the </a:t>
            </a:r>
            <a:r>
              <a:rPr lang="en-US" b="1" i="1" dirty="0" err="1">
                <a:solidFill>
                  <a:srgbClr val="E74C3C"/>
                </a:solidFill>
                <a:latin typeface="Libre Franklin" panose="020F0502020204030204" pitchFamily="2" charset="0"/>
              </a:rPr>
              <a:t>make_regression</a:t>
            </a:r>
            <a:r>
              <a:rPr lang="en-US" b="1" i="1" dirty="0">
                <a:solidFill>
                  <a:srgbClr val="E74C3C"/>
                </a:solidFill>
                <a:latin typeface="Libre Franklin" panose="020F0502020204030204" pitchFamily="2" charset="0"/>
              </a:rPr>
              <a:t> </a:t>
            </a:r>
            <a:r>
              <a:rPr lang="en-US" b="0" i="0" dirty="0">
                <a:solidFill>
                  <a:srgbClr val="3A3A3A"/>
                </a:solidFill>
                <a:effectLst/>
                <a:latin typeface="Libre Franklin" panose="020F0502020204030204" pitchFamily="2" charset="0"/>
              </a:rPr>
              <a:t>dataset available in the scikit-learn library.</a:t>
            </a:r>
          </a:p>
          <a:p>
            <a:pPr algn="just"/>
            <a:r>
              <a:rPr lang="en-US" b="0" i="0" dirty="0">
                <a:solidFill>
                  <a:srgbClr val="3A3A3A"/>
                </a:solidFill>
                <a:effectLst/>
                <a:latin typeface="Libre Franklin" panose="020F0502020204030204" pitchFamily="2" charset="0"/>
              </a:rPr>
              <a:t>The </a:t>
            </a:r>
            <a:r>
              <a:rPr lang="en-US" b="1" i="1" dirty="0" err="1">
                <a:solidFill>
                  <a:srgbClr val="E74C3C"/>
                </a:solidFill>
                <a:latin typeface="Libre Franklin" panose="020F0502020204030204" pitchFamily="2" charset="0"/>
              </a:rPr>
              <a:t>make_regression</a:t>
            </a:r>
            <a:r>
              <a:rPr lang="en-US" b="1" i="1" dirty="0">
                <a:solidFill>
                  <a:srgbClr val="E74C3C"/>
                </a:solidFill>
                <a:latin typeface="Libre Franklin" panose="020F0502020204030204" pitchFamily="2" charset="0"/>
              </a:rPr>
              <a:t> </a:t>
            </a:r>
            <a:r>
              <a:rPr lang="en-US" b="0" i="0" dirty="0">
                <a:solidFill>
                  <a:srgbClr val="3A3A3A"/>
                </a:solidFill>
                <a:effectLst/>
                <a:latin typeface="Libre Franklin" panose="020F0502020204030204" pitchFamily="2" charset="0"/>
              </a:rPr>
              <a:t>function generates samples for inputs (features) and output (target) by applying random </a:t>
            </a:r>
            <a:r>
              <a:rPr lang="en-US" b="0" i="0" u="none" strike="noStrike" dirty="0">
                <a:solidFill>
                  <a:srgbClr val="E74C3C"/>
                </a:solidFill>
                <a:effectLst/>
                <a:latin typeface="Libre Franklin" panose="020F0502020204030204" pitchFamily="2" charset="0"/>
                <a:hlinkClick r:id="rId2"/>
              </a:rPr>
              <a:t>linear regression model</a:t>
            </a:r>
            <a:r>
              <a:rPr lang="en-US" b="0" i="0" dirty="0">
                <a:solidFill>
                  <a:srgbClr val="3A3A3A"/>
                </a:solidFill>
                <a:effectLst/>
                <a:latin typeface="Libre Franklin" panose="020F0502020204030204" pitchFamily="2" charset="0"/>
              </a:rPr>
              <a:t>. </a:t>
            </a:r>
          </a:p>
          <a:p>
            <a:pPr algn="just"/>
            <a:r>
              <a:rPr lang="en-US" b="0" i="0" dirty="0">
                <a:solidFill>
                  <a:srgbClr val="3A3A3A"/>
                </a:solidFill>
                <a:effectLst/>
                <a:latin typeface="Libre Franklin" panose="020F0502020204030204" pitchFamily="2" charset="0"/>
              </a:rPr>
              <a:t>The values for generated samples have to be scaled to appropriate range for the given problem.</a:t>
            </a:r>
          </a:p>
          <a:p>
            <a:pPr algn="just"/>
            <a:r>
              <a:rPr lang="en-US" dirty="0"/>
              <a:t>Here's an example code to generate this </a:t>
            </a:r>
            <a:r>
              <a:rPr lang="en-US" dirty="0" err="1"/>
              <a:t>sklearn</a:t>
            </a:r>
            <a:r>
              <a:rPr lang="en-US" dirty="0"/>
              <a:t> dataset with 100 samples, 1 feature, Gaussian noise with std dev of 5, no bias term and then scaling is done in required range: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) from </a:t>
            </a:r>
            <a:r>
              <a:rPr lang="en-US" dirty="0" err="1"/>
              <a:t>sklearn.datasets</a:t>
            </a:r>
            <a:r>
              <a:rPr lang="en-US" dirty="0"/>
              <a:t> import </a:t>
            </a:r>
            <a:r>
              <a:rPr lang="en-US" dirty="0" err="1"/>
              <a:t>make_regression</a:t>
            </a:r>
            <a:endParaRPr lang="en-US" dirty="0"/>
          </a:p>
          <a:p>
            <a:pPr lvl="1" algn="just"/>
            <a:r>
              <a:rPr lang="en-US" dirty="0"/>
              <a:t>x, y = </a:t>
            </a:r>
            <a:r>
              <a:rPr lang="en-US" dirty="0" err="1"/>
              <a:t>make_regression</a:t>
            </a:r>
            <a:r>
              <a:rPr lang="en-US" dirty="0"/>
              <a:t>(</a:t>
            </a:r>
            <a:r>
              <a:rPr lang="en-US" dirty="0" err="1"/>
              <a:t>n_samples</a:t>
            </a:r>
            <a:r>
              <a:rPr lang="en-US" dirty="0"/>
              <a:t>=100, </a:t>
            </a:r>
            <a:r>
              <a:rPr lang="en-US" dirty="0" err="1"/>
              <a:t>n_features</a:t>
            </a:r>
            <a:r>
              <a:rPr lang="en-US" dirty="0"/>
              <a:t>=1, bias = 0, noise =5</a:t>
            </a:r>
          </a:p>
          <a:p>
            <a:pPr lvl="1" algn="just"/>
            <a:r>
              <a:rPr lang="en-IN" sz="2700" dirty="0"/>
              <a:t># Scale feature x to range -5…..5</a:t>
            </a:r>
          </a:p>
          <a:p>
            <a:pPr lvl="1" algn="just"/>
            <a:r>
              <a:rPr lang="en-IN" sz="2700" dirty="0"/>
              <a:t>x = </a:t>
            </a:r>
            <a:r>
              <a:rPr lang="en-IN" sz="2700" dirty="0" err="1"/>
              <a:t>np.interp</a:t>
            </a:r>
            <a:r>
              <a:rPr lang="en-IN" sz="2700" dirty="0"/>
              <a:t>(x, (</a:t>
            </a:r>
            <a:r>
              <a:rPr lang="en-IN" sz="2700" dirty="0" err="1"/>
              <a:t>x.min</a:t>
            </a:r>
            <a:r>
              <a:rPr lang="en-IN" sz="2700" dirty="0"/>
              <a:t>(), </a:t>
            </a:r>
            <a:r>
              <a:rPr lang="en-IN" sz="2700" dirty="0" err="1"/>
              <a:t>x.max</a:t>
            </a:r>
            <a:r>
              <a:rPr lang="en-IN" sz="2700" dirty="0"/>
              <a:t>()), (-5, 5))</a:t>
            </a:r>
          </a:p>
          <a:p>
            <a:pPr lvl="1" algn="just"/>
            <a:r>
              <a:rPr lang="en-IN" sz="2700" dirty="0"/>
              <a:t> # Scale target y to range 15…..-15</a:t>
            </a:r>
          </a:p>
          <a:p>
            <a:pPr lvl="1" algn="just"/>
            <a:r>
              <a:rPr lang="en-IN" sz="2700" dirty="0"/>
              <a:t>y = </a:t>
            </a:r>
            <a:r>
              <a:rPr lang="en-IN" sz="2700" dirty="0" err="1"/>
              <a:t>np.interp</a:t>
            </a:r>
            <a:r>
              <a:rPr lang="en-IN" sz="2700" dirty="0"/>
              <a:t>(y, (</a:t>
            </a:r>
            <a:r>
              <a:rPr lang="en-IN" sz="2700" dirty="0" err="1"/>
              <a:t>y.min</a:t>
            </a:r>
            <a:r>
              <a:rPr lang="en-IN" sz="2700" dirty="0"/>
              <a:t>(), </a:t>
            </a:r>
            <a:r>
              <a:rPr lang="en-IN" sz="2700" dirty="0" err="1"/>
              <a:t>y.max</a:t>
            </a:r>
            <a:r>
              <a:rPr lang="en-IN" sz="2700" dirty="0"/>
              <a:t>()), (15, -15))</a:t>
            </a:r>
            <a:endParaRPr lang="en-US" sz="2700" dirty="0"/>
          </a:p>
          <a:p>
            <a:pPr lvl="1" algn="just"/>
            <a:endParaRPr lang="en-US" dirty="0"/>
          </a:p>
          <a:p>
            <a:pPr algn="just"/>
            <a:r>
              <a:rPr lang="en-US" b="1" dirty="0"/>
              <a:t>Note:</a:t>
            </a:r>
            <a:r>
              <a:rPr lang="en-US" dirty="0"/>
              <a:t> As we have selected only one feature: The model equation is: </a:t>
            </a:r>
            <a:r>
              <a:rPr lang="en-GB" dirty="0"/>
              <a:t>y = w</a:t>
            </a:r>
            <a:r>
              <a:rPr lang="en-GB" baseline="-25000" dirty="0"/>
              <a:t>1</a:t>
            </a:r>
            <a:r>
              <a:rPr lang="en-GB" dirty="0"/>
              <a:t>x</a:t>
            </a:r>
            <a:r>
              <a:rPr lang="en-GB" baseline="-25000" dirty="0"/>
              <a:t>1 </a:t>
            </a:r>
            <a:r>
              <a:rPr lang="en-GB" dirty="0"/>
              <a:t>+ b </a:t>
            </a:r>
            <a:r>
              <a:rPr lang="en-GB" b="1" dirty="0"/>
              <a:t>=</a:t>
            </a:r>
            <a:r>
              <a:rPr lang="en-US" b="1" dirty="0"/>
              <a:t> </a:t>
            </a:r>
            <a:r>
              <a:rPr lang="en-US" b="1" dirty="0" err="1"/>
              <a:t>w</a:t>
            </a:r>
            <a:r>
              <a:rPr lang="en-US" baseline="30000" dirty="0" err="1"/>
              <a:t>T</a:t>
            </a:r>
            <a:r>
              <a:rPr lang="en-US" b="1" dirty="0" err="1"/>
              <a:t>x</a:t>
            </a:r>
            <a:r>
              <a:rPr lang="en-GB" baseline="-25000" dirty="0"/>
              <a:t> </a:t>
            </a:r>
            <a:r>
              <a:rPr lang="en-GB" dirty="0"/>
              <a:t>+w</a:t>
            </a:r>
            <a:r>
              <a:rPr lang="en-GB" baseline="-25000" dirty="0"/>
              <a:t>0</a:t>
            </a:r>
            <a:r>
              <a:rPr lang="en-GB" dirty="0"/>
              <a:t>x</a:t>
            </a:r>
            <a:r>
              <a:rPr lang="en-GB" baseline="-25000" dirty="0"/>
              <a:t>0 </a:t>
            </a:r>
            <a:r>
              <a:rPr lang="en-US" dirty="0"/>
              <a:t>; b is bias term =w</a:t>
            </a:r>
            <a:r>
              <a:rPr lang="en-US" baseline="-25000" dirty="0"/>
              <a:t>0 </a:t>
            </a:r>
            <a:r>
              <a:rPr lang="en-US" dirty="0"/>
              <a:t>with x</a:t>
            </a:r>
            <a:r>
              <a:rPr lang="en-US" baseline="-25000" dirty="0"/>
              <a:t>0</a:t>
            </a:r>
            <a:r>
              <a:rPr lang="en-US" dirty="0"/>
              <a:t>=1; </a:t>
            </a:r>
            <a:r>
              <a:rPr lang="en-US" b="1" dirty="0"/>
              <a:t>w</a:t>
            </a:r>
            <a:r>
              <a:rPr lang="en-US" dirty="0"/>
              <a:t> = [w</a:t>
            </a:r>
            <a:r>
              <a:rPr lang="en-US" baseline="-25000" dirty="0"/>
              <a:t>1</a:t>
            </a:r>
            <a:r>
              <a:rPr lang="en-US" dirty="0"/>
              <a:t>] and </a:t>
            </a:r>
            <a:r>
              <a:rPr lang="en-US" b="1" dirty="0"/>
              <a:t>x</a:t>
            </a:r>
            <a:r>
              <a:rPr lang="en-US" dirty="0"/>
              <a:t> = [x</a:t>
            </a:r>
            <a:r>
              <a:rPr lang="en-US" baseline="-25000" dirty="0"/>
              <a:t>1</a:t>
            </a:r>
            <a:r>
              <a:rPr lang="en-US" dirty="0"/>
              <a:t>] are 1 x 1</a:t>
            </a:r>
          </a:p>
          <a:p>
            <a:pPr algn="just"/>
            <a:r>
              <a:rPr lang="en-GB" dirty="0"/>
              <a:t>Final model equation is: y = </a:t>
            </a:r>
            <a:r>
              <a:rPr lang="en-US" b="1" dirty="0" err="1"/>
              <a:t>w_b</a:t>
            </a:r>
            <a:r>
              <a:rPr lang="en-US" baseline="30000" dirty="0" err="1"/>
              <a:t>T</a:t>
            </a:r>
            <a:r>
              <a:rPr lang="en-US" b="1" dirty="0" err="1"/>
              <a:t>x_b</a:t>
            </a:r>
            <a:r>
              <a:rPr lang="en-US" b="1" dirty="0"/>
              <a:t>;</a:t>
            </a:r>
            <a:r>
              <a:rPr lang="en-GB" dirty="0"/>
              <a:t> </a:t>
            </a:r>
            <a:r>
              <a:rPr lang="en-IN" sz="3200" b="1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x_b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= [1, x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]</a:t>
            </a:r>
            <a:r>
              <a:rPr lang="en-IN" sz="32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; </a:t>
            </a:r>
            <a:r>
              <a:rPr lang="en-IN" sz="3200" b="1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w_b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= [w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0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, w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]</a:t>
            </a:r>
            <a:r>
              <a:rPr lang="en-IN" sz="32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</a:t>
            </a:r>
          </a:p>
          <a:p>
            <a:pPr algn="just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84E6-F805-9266-1CFD-E99AE020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02-09-2025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2F07-D16D-D5C8-EC09-51CECAA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643E-FECE-F6B4-013B-87DBFE1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9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3955" y="427243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(a): Linear Regression Algorithm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Steps: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02-09-2025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Import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make_regression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dataset(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x,y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): 100 samples, 1 feature, No Bias term and noise with std dev of 5. 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Range of x is [-5 5] and y is [15 -15].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overall dataset using scatter plot in 2-D space.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Split the data set into training (80%) and testing(20%) dataset.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Add bias to each instance of input training data set. (use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np.c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_) to train the model: </a:t>
            </a:r>
            <a:r>
              <a:rPr lang="en-GB" sz="3600" dirty="0"/>
              <a:t>y = </a:t>
            </a:r>
            <a:r>
              <a:rPr lang="en-US" sz="3600" b="1" dirty="0" err="1"/>
              <a:t>w_b</a:t>
            </a:r>
            <a:r>
              <a:rPr lang="en-US" sz="3600" baseline="30000" dirty="0" err="1"/>
              <a:t>T</a:t>
            </a:r>
            <a:r>
              <a:rPr lang="en-US" sz="3600" b="1" dirty="0" err="1"/>
              <a:t>x_b</a:t>
            </a:r>
            <a:endParaRPr lang="en-IN" sz="3200" baseline="300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Obtain the linear regression co-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efficients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using close form solution formula and using training data set.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Test the algorithm using testing dataset and obtain prediction.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Find and display Root Mean Square Error (RMSE) for training as well as testing dataset. Use the function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mean_squared_error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in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sklearn.metrics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for performance evaluation.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Plot training dataset, testing dataset with true output and testing dataset with predicted output in one scatter plot in 2-D space. Use proper legends.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On same scatter plot, plot straight line equation using weights and bias obtained after training</a:t>
            </a:r>
          </a:p>
          <a:p>
            <a:pPr lvl="1"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Verify the results with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sklearn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in-built function: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LinearRegression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().</a:t>
            </a: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5899-8F9F-99DD-2E44-5E771616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(b): Ridge Regression Algorithm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Steps: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85421-6F9F-CC25-823D-4D441E35A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Repeat the same experiment as in part (a) with same dataset for Ridge Regression algorithm with hyper-parameter values of 0.1, 0.5, 1.0 and 1.5 (denoted by </a:t>
            </a:r>
            <a:r>
              <a:rPr lang="el-GR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α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or </a:t>
            </a:r>
            <a:r>
              <a:rPr lang="el-GR" sz="3200" dirty="0">
                <a:solidFill>
                  <a:schemeClr val="tx2">
                    <a:satMod val="13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λ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algn="just"/>
            <a:r>
              <a:rPr lang="en-IN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Sklearn</a:t>
            </a:r>
            <a:r>
              <a:rPr lang="en-IN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in-built function is Ridge()</a:t>
            </a:r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algn="just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98C5-5C79-B577-F0B3-51CAB482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E4296-2CF8-BE9E-8EC0-A84B2E49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14538-D962-61BF-6505-ABF9F89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8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About dataset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About </a:t>
            </a:r>
            <a:r>
              <a:rPr lang="en-IN" dirty="0" err="1"/>
              <a:t>sklearn</a:t>
            </a:r>
            <a:r>
              <a:rPr lang="en-IN" dirty="0"/>
              <a:t> inbuilt function for Linear and Ridge Regressions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02-09-2025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892D74-EA1D-4A1F-9F4F-AE74EBE6648A}"/>
</file>

<file path=customXml/itemProps2.xml><?xml version="1.0" encoding="utf-8"?>
<ds:datastoreItem xmlns:ds="http://schemas.openxmlformats.org/officeDocument/2006/customXml" ds:itemID="{E3868360-E853-43E2-B093-399502BA06A7}"/>
</file>

<file path=customXml/itemProps3.xml><?xml version="1.0" encoding="utf-8"?>
<ds:datastoreItem xmlns:ds="http://schemas.openxmlformats.org/officeDocument/2006/customXml" ds:itemID="{4065F974-D7A7-47AD-AE46-5AE87B3746D0}"/>
</file>

<file path=docProps/app.xml><?xml version="1.0" encoding="utf-8"?>
<Properties xmlns="http://schemas.openxmlformats.org/officeDocument/2006/extended-properties" xmlns:vt="http://schemas.openxmlformats.org/officeDocument/2006/docPropsVTypes">
  <TotalTime>3693</TotalTime>
  <Words>780</Words>
  <Application>Microsoft Office PowerPoint</Application>
  <PresentationFormat>On-screen Show (4:3)</PresentationFormat>
  <Paragraphs>79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Consolas</vt:lpstr>
      <vt:lpstr>IBM Plex Mono</vt:lpstr>
      <vt:lpstr>IBM Plex Sans</vt:lpstr>
      <vt:lpstr>Libre Franklin</vt:lpstr>
      <vt:lpstr>Tahoma</vt:lpstr>
      <vt:lpstr>Times New Roman</vt:lpstr>
      <vt:lpstr>URWPalladioL-Bold</vt:lpstr>
      <vt:lpstr>Office Theme</vt:lpstr>
      <vt:lpstr>  Experiment 4:  Training, Testing and Evaluation of Linear and Ridge Regression Algorithms</vt:lpstr>
      <vt:lpstr>Training Dataset from Sklearn Library</vt:lpstr>
      <vt:lpstr>Make_Regression Dataset</vt:lpstr>
      <vt:lpstr>Part (a): Linear Regression Algorithm Steps:</vt:lpstr>
      <vt:lpstr>Part (b): Ridge Regression Algorithm Steps: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538</cp:revision>
  <dcterms:created xsi:type="dcterms:W3CDTF">2006-08-16T00:00:00Z</dcterms:created>
  <dcterms:modified xsi:type="dcterms:W3CDTF">2025-09-02T07:51:39Z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